
<file path=[Content_Types].xml><?xml version="1.0" encoding="utf-8"?>
<Types xmlns="http://schemas.openxmlformats.org/package/2006/content-types">
  <Default Extension="fntdata" ContentType="application/x-fontdata"/>
  <Default Extension="glb" ContentType="model/gltf.binary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embeddedFontLst>
    <p:embeddedFont>
      <p:font typeface="Crimson Pro Bold" panose="020B0604020202020204" charset="0"/>
      <p:regular r:id="rId11"/>
    </p:embeddedFont>
    <p:embeddedFont>
      <p:font typeface="Open Sans" panose="020B0606030504020204" pitchFamily="34" charset="0"/>
      <p:regular r:id="rId12"/>
      <p:italic r:id="rId13"/>
    </p:embeddedFont>
    <p:embeddedFont>
      <p:font typeface="Open Sans Bold" panose="020B0806030504020204" charset="0"/>
      <p:regular r:id="rId1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C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svg"/><Relationship Id="rId1" Type="http://schemas.openxmlformats.org/officeDocument/2006/relationships/image" Target="../media/image12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svg"/><Relationship Id="rId1" Type="http://schemas.openxmlformats.org/officeDocument/2006/relationships/image" Target="../media/image1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3">
  <dgm:title val=""/>
  <dgm:desc val=""/>
  <dgm:catLst>
    <dgm:cat type="accent2" pri="11300"/>
  </dgm:catLst>
  <dgm:styleLbl name="node0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2">
        <a:shade val="80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1">
    <dgm:fillClrLst>
      <a:schemeClr val="accent2">
        <a:shade val="80000"/>
      </a:schemeClr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1NoLn">
    <dgm:fillClrLst>
      <a:schemeClr val="accent2">
        <a:shade val="80000"/>
      </a:schemeClr>
      <a:schemeClr val="accent2">
        <a:tint val="70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>
      <a:schemeClr val="accent2">
        <a:tint val="75000"/>
      </a:schemeClr>
      <a:schemeClr val="accent2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>
      <a:schemeClr val="accent2">
        <a:shade val="80000"/>
      </a:schemeClr>
      <a:schemeClr val="accent2">
        <a:tint val="7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/>
    <dgm:txEffectClrLst/>
  </dgm:styleLbl>
  <dgm:styleLbl name="lnNode1">
    <dgm:fillClrLst>
      <a:schemeClr val="accent2">
        <a:shade val="80000"/>
      </a:schemeClr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shade val="80000"/>
        <a:alpha val="50000"/>
      </a:schemeClr>
      <a:schemeClr val="accent2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2NoLn">
    <dgm:fillClrLst>
      <a:schemeClr val="accent2">
        <a:tint val="99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>
      <a:schemeClr val="accent2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NoLn">
    <dgm:fillClrLst>
      <a:schemeClr val="accent2">
        <a:tint val="80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4NoLn">
    <dgm:fillClrLst>
      <a:schemeClr val="accent2">
        <a:tint val="70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>
        <a:shade val="90000"/>
      </a:schemeClr>
      <a:schemeClr val="accent2">
        <a:tint val="70000"/>
      </a:schemeClr>
    </dgm:fillClrLst>
    <dgm:linClrLst>
      <a:schemeClr val="accent2">
        <a:shade val="90000"/>
      </a:schemeClr>
      <a:schemeClr val="accent2">
        <a:tint val="70000"/>
      </a:schemeClr>
    </dgm:linClrLst>
    <dgm:effectClrLst/>
    <dgm:txLinClrLst/>
    <dgm:txFillClrLst/>
    <dgm:txEffectClrLst/>
  </dgm:styleLbl>
  <dgm:styleLbl name="fgSibTrans2D1">
    <dgm:fillClrLst>
      <a:schemeClr val="accent2">
        <a:shade val="90000"/>
      </a:schemeClr>
      <a:schemeClr val="accent2">
        <a:tint val="70000"/>
      </a:schemeClr>
    </dgm:fillClrLst>
    <dgm:linClrLst>
      <a:schemeClr val="accent2">
        <a:shade val="90000"/>
      </a:schemeClr>
      <a:schemeClr val="accent2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>
        <a:shade val="90000"/>
      </a:schemeClr>
      <a:schemeClr val="accent2">
        <a:tint val="70000"/>
      </a:schemeClr>
    </dgm:fillClrLst>
    <dgm:linClrLst>
      <a:schemeClr val="accent2">
        <a:shade val="90000"/>
      </a:schemeClr>
      <a:schemeClr val="accent2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2">
        <a:shade val="90000"/>
      </a:schemeClr>
      <a:schemeClr val="accent2">
        <a:tint val="70000"/>
      </a:schemeClr>
    </dgm:fillClrLst>
    <dgm:linClrLst>
      <a:schemeClr val="accent2">
        <a:shade val="90000"/>
      </a:schemeClr>
      <a:schemeClr val="accent2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2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>
        <a:shade val="8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9000"/>
      </a:schemeClr>
    </dgm:fillClrLst>
    <dgm:linClrLst meth="repeat">
      <a:schemeClr val="accent2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80000"/>
      </a:schemeClr>
    </dgm:fillClrLst>
    <dgm:linClrLst meth="repeat">
      <a:schemeClr val="accent2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>
        <a:shade val="80000"/>
      </a:schemeClr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2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>
      <a:schemeClr val="accent3"/>
      <a:schemeClr val="accent4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>
      <a:schemeClr val="accent3">
        <a:tint val="75000"/>
      </a:schemeClr>
      <a:schemeClr val="accent4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>
      <a:schemeClr val="accent4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>
      <a:schemeClr val="accent5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FD4FBA6-BB42-48C3-975D-0301214356B0}" type="doc">
      <dgm:prSet loTypeId="urn:microsoft.com/office/officeart/2005/8/layout/radial6" loCatId="cycle" qsTypeId="urn:microsoft.com/office/officeart/2005/8/quickstyle/simple1" qsCatId="simple" csTypeId="urn:microsoft.com/office/officeart/2005/8/colors/accent2_3" csCatId="accent2" phldr="0"/>
      <dgm:spPr/>
      <dgm:t>
        <a:bodyPr/>
        <a:lstStyle/>
        <a:p>
          <a:endParaRPr lang="en-IN"/>
        </a:p>
      </dgm:t>
    </dgm:pt>
    <dgm:pt modelId="{865C5916-1480-405A-8331-46A990CEFF2F}">
      <dgm:prSet phldrT="[Text]" phldr="1"/>
      <dgm:spPr/>
      <dgm:t>
        <a:bodyPr/>
        <a:lstStyle/>
        <a:p>
          <a:endParaRPr lang="en-IN" dirty="0"/>
        </a:p>
      </dgm:t>
    </dgm:pt>
    <dgm:pt modelId="{750AD2C2-852F-4134-AD5D-F2C64E738434}" type="parTrans" cxnId="{7E9CEA5C-07A9-432E-97C1-49BD6F439729}">
      <dgm:prSet/>
      <dgm:spPr/>
      <dgm:t>
        <a:bodyPr/>
        <a:lstStyle/>
        <a:p>
          <a:endParaRPr lang="en-IN"/>
        </a:p>
      </dgm:t>
    </dgm:pt>
    <dgm:pt modelId="{4C1101B1-A00F-4C23-90DF-206D58F017BD}" type="sibTrans" cxnId="{7E9CEA5C-07A9-432E-97C1-49BD6F439729}">
      <dgm:prSet/>
      <dgm:spPr/>
      <dgm:t>
        <a:bodyPr/>
        <a:lstStyle/>
        <a:p>
          <a:endParaRPr lang="en-IN"/>
        </a:p>
      </dgm:t>
    </dgm:pt>
    <dgm:pt modelId="{AA0F340B-E7F7-4E16-B6CE-0474C1F64C7F}">
      <dgm:prSet phldrT="[Text]" phldr="1"/>
      <dgm:spPr/>
      <dgm:t>
        <a:bodyPr/>
        <a:lstStyle/>
        <a:p>
          <a:endParaRPr lang="en-IN"/>
        </a:p>
      </dgm:t>
    </dgm:pt>
    <dgm:pt modelId="{037D1F71-1C14-4352-A702-06661FEF0C5F}" type="parTrans" cxnId="{A4B9580B-A05A-4F51-BEDB-3BD6CE554F56}">
      <dgm:prSet/>
      <dgm:spPr/>
      <dgm:t>
        <a:bodyPr/>
        <a:lstStyle/>
        <a:p>
          <a:endParaRPr lang="en-IN"/>
        </a:p>
      </dgm:t>
    </dgm:pt>
    <dgm:pt modelId="{54F25290-5333-4698-BC57-2EAF7DE40E30}" type="sibTrans" cxnId="{A4B9580B-A05A-4F51-BEDB-3BD6CE554F56}">
      <dgm:prSet/>
      <dgm:spPr/>
      <dgm:t>
        <a:bodyPr/>
        <a:lstStyle/>
        <a:p>
          <a:endParaRPr lang="en-IN"/>
        </a:p>
      </dgm:t>
    </dgm:pt>
    <dgm:pt modelId="{50DC092C-8EB6-41D5-A762-094DDF283988}">
      <dgm:prSet phldrT="[Text]" phldr="1"/>
      <dgm:spPr/>
      <dgm:t>
        <a:bodyPr/>
        <a:lstStyle/>
        <a:p>
          <a:endParaRPr lang="en-IN"/>
        </a:p>
      </dgm:t>
    </dgm:pt>
    <dgm:pt modelId="{6F64FA8B-2120-4275-9AB8-9FC11D4D9918}" type="parTrans" cxnId="{F625318B-9C63-479F-88E3-C5C8DAB3EE66}">
      <dgm:prSet/>
      <dgm:spPr/>
      <dgm:t>
        <a:bodyPr/>
        <a:lstStyle/>
        <a:p>
          <a:endParaRPr lang="en-IN"/>
        </a:p>
      </dgm:t>
    </dgm:pt>
    <dgm:pt modelId="{EAAB6A87-2640-4C2A-A5FD-2C707BE6FEBF}" type="sibTrans" cxnId="{F625318B-9C63-479F-88E3-C5C8DAB3EE66}">
      <dgm:prSet/>
      <dgm:spPr/>
      <dgm:t>
        <a:bodyPr/>
        <a:lstStyle/>
        <a:p>
          <a:endParaRPr lang="en-IN"/>
        </a:p>
      </dgm:t>
    </dgm:pt>
    <dgm:pt modelId="{BEF46821-6604-4E4C-9D77-1F7E12A1E600}">
      <dgm:prSet phldrT="[Text]" phldr="1"/>
      <dgm:spPr/>
      <dgm:t>
        <a:bodyPr/>
        <a:lstStyle/>
        <a:p>
          <a:endParaRPr lang="en-IN"/>
        </a:p>
      </dgm:t>
    </dgm:pt>
    <dgm:pt modelId="{53A09387-AE21-4DF0-819D-6276D8E386C8}" type="parTrans" cxnId="{69F96E28-D7AD-4074-BD44-28AB50A34E2D}">
      <dgm:prSet/>
      <dgm:spPr/>
      <dgm:t>
        <a:bodyPr/>
        <a:lstStyle/>
        <a:p>
          <a:endParaRPr lang="en-IN"/>
        </a:p>
      </dgm:t>
    </dgm:pt>
    <dgm:pt modelId="{93AC536D-DE7F-4DA1-B44C-0322D4411B48}" type="sibTrans" cxnId="{69F96E28-D7AD-4074-BD44-28AB50A34E2D}">
      <dgm:prSet/>
      <dgm:spPr/>
      <dgm:t>
        <a:bodyPr/>
        <a:lstStyle/>
        <a:p>
          <a:endParaRPr lang="en-IN"/>
        </a:p>
      </dgm:t>
    </dgm:pt>
    <dgm:pt modelId="{1E300187-C43D-489F-A6AC-44E5D59A4EEC}">
      <dgm:prSet phldrT="[Text]" phldr="1"/>
      <dgm:spPr/>
      <dgm:t>
        <a:bodyPr/>
        <a:lstStyle/>
        <a:p>
          <a:endParaRPr lang="en-IN"/>
        </a:p>
      </dgm:t>
    </dgm:pt>
    <dgm:pt modelId="{2F0AA7AF-8BF3-410D-B300-595CFA3F0885}" type="parTrans" cxnId="{4AD06957-8537-4542-8943-3D57FE799F58}">
      <dgm:prSet/>
      <dgm:spPr/>
      <dgm:t>
        <a:bodyPr/>
        <a:lstStyle/>
        <a:p>
          <a:endParaRPr lang="en-IN"/>
        </a:p>
      </dgm:t>
    </dgm:pt>
    <dgm:pt modelId="{5D64696B-21AB-4C5F-A502-E23CA2FC6654}" type="sibTrans" cxnId="{4AD06957-8537-4542-8943-3D57FE799F58}">
      <dgm:prSet/>
      <dgm:spPr/>
      <dgm:t>
        <a:bodyPr/>
        <a:lstStyle/>
        <a:p>
          <a:endParaRPr lang="en-IN"/>
        </a:p>
      </dgm:t>
    </dgm:pt>
    <dgm:pt modelId="{174040CF-C9CA-4E6B-924E-1F01E6D36A64}" type="pres">
      <dgm:prSet presAssocID="{8FD4FBA6-BB42-48C3-975D-0301214356B0}" presName="Name0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284F6A40-C49E-4773-AA29-5DF539F1E37F}" type="pres">
      <dgm:prSet presAssocID="{865C5916-1480-405A-8331-46A990CEFF2F}" presName="centerShape" presStyleLbl="node0" presStyleIdx="0" presStyleCnt="1"/>
      <dgm:spPr/>
    </dgm:pt>
    <dgm:pt modelId="{D5F32800-EF31-43A8-985D-BF079F554F2E}" type="pres">
      <dgm:prSet presAssocID="{AA0F340B-E7F7-4E16-B6CE-0474C1F64C7F}" presName="node" presStyleLbl="node1" presStyleIdx="0" presStyleCnt="4">
        <dgm:presLayoutVars>
          <dgm:bulletEnabled val="1"/>
        </dgm:presLayoutVars>
      </dgm:prSet>
      <dgm:spPr/>
    </dgm:pt>
    <dgm:pt modelId="{EA96B692-B4A4-46FF-B518-B27765A63DD6}" type="pres">
      <dgm:prSet presAssocID="{AA0F340B-E7F7-4E16-B6CE-0474C1F64C7F}" presName="dummy" presStyleCnt="0"/>
      <dgm:spPr/>
    </dgm:pt>
    <dgm:pt modelId="{0A2951B4-78F3-4534-A885-DBC709EBC2BB}" type="pres">
      <dgm:prSet presAssocID="{54F25290-5333-4698-BC57-2EAF7DE40E30}" presName="sibTrans" presStyleLbl="sibTrans2D1" presStyleIdx="0" presStyleCnt="4"/>
      <dgm:spPr/>
    </dgm:pt>
    <dgm:pt modelId="{0B710BF0-CDFB-45C5-B612-2A0C01B44E45}" type="pres">
      <dgm:prSet presAssocID="{50DC092C-8EB6-41D5-A762-094DDF283988}" presName="node" presStyleLbl="node1" presStyleIdx="1" presStyleCnt="4">
        <dgm:presLayoutVars>
          <dgm:bulletEnabled val="1"/>
        </dgm:presLayoutVars>
      </dgm:prSet>
      <dgm:spPr/>
    </dgm:pt>
    <dgm:pt modelId="{151247D2-D441-4598-90EC-8326393C6EC4}" type="pres">
      <dgm:prSet presAssocID="{50DC092C-8EB6-41D5-A762-094DDF283988}" presName="dummy" presStyleCnt="0"/>
      <dgm:spPr/>
    </dgm:pt>
    <dgm:pt modelId="{997E637F-2592-448E-9A68-B8706991C356}" type="pres">
      <dgm:prSet presAssocID="{EAAB6A87-2640-4C2A-A5FD-2C707BE6FEBF}" presName="sibTrans" presStyleLbl="sibTrans2D1" presStyleIdx="1" presStyleCnt="4"/>
      <dgm:spPr/>
    </dgm:pt>
    <dgm:pt modelId="{01F30C68-A23A-42A3-A6F2-EA618E01735E}" type="pres">
      <dgm:prSet presAssocID="{BEF46821-6604-4E4C-9D77-1F7E12A1E600}" presName="node" presStyleLbl="node1" presStyleIdx="2" presStyleCnt="4">
        <dgm:presLayoutVars>
          <dgm:bulletEnabled val="1"/>
        </dgm:presLayoutVars>
      </dgm:prSet>
      <dgm:spPr/>
    </dgm:pt>
    <dgm:pt modelId="{1C25AC4F-E6AE-4F01-9188-2FFEE061627E}" type="pres">
      <dgm:prSet presAssocID="{BEF46821-6604-4E4C-9D77-1F7E12A1E600}" presName="dummy" presStyleCnt="0"/>
      <dgm:spPr/>
    </dgm:pt>
    <dgm:pt modelId="{3A13BE1A-E8A3-4C46-ADF9-5BF02FEF52CD}" type="pres">
      <dgm:prSet presAssocID="{93AC536D-DE7F-4DA1-B44C-0322D4411B48}" presName="sibTrans" presStyleLbl="sibTrans2D1" presStyleIdx="2" presStyleCnt="4"/>
      <dgm:spPr/>
    </dgm:pt>
    <dgm:pt modelId="{EB1EA038-B078-493C-83F8-CA7DADB8517B}" type="pres">
      <dgm:prSet presAssocID="{1E300187-C43D-489F-A6AC-44E5D59A4EEC}" presName="node" presStyleLbl="node1" presStyleIdx="3" presStyleCnt="4">
        <dgm:presLayoutVars>
          <dgm:bulletEnabled val="1"/>
        </dgm:presLayoutVars>
      </dgm:prSet>
      <dgm:spPr/>
    </dgm:pt>
    <dgm:pt modelId="{972E59CF-2C73-47A7-9BAC-F6D6EA7D8B7E}" type="pres">
      <dgm:prSet presAssocID="{1E300187-C43D-489F-A6AC-44E5D59A4EEC}" presName="dummy" presStyleCnt="0"/>
      <dgm:spPr/>
    </dgm:pt>
    <dgm:pt modelId="{B4707EAC-A4BC-4937-A2A3-13CEB23A87C1}" type="pres">
      <dgm:prSet presAssocID="{5D64696B-21AB-4C5F-A502-E23CA2FC6654}" presName="sibTrans" presStyleLbl="sibTrans2D1" presStyleIdx="3" presStyleCnt="4"/>
      <dgm:spPr/>
    </dgm:pt>
  </dgm:ptLst>
  <dgm:cxnLst>
    <dgm:cxn modelId="{A4B9580B-A05A-4F51-BEDB-3BD6CE554F56}" srcId="{865C5916-1480-405A-8331-46A990CEFF2F}" destId="{AA0F340B-E7F7-4E16-B6CE-0474C1F64C7F}" srcOrd="0" destOrd="0" parTransId="{037D1F71-1C14-4352-A702-06661FEF0C5F}" sibTransId="{54F25290-5333-4698-BC57-2EAF7DE40E30}"/>
    <dgm:cxn modelId="{22FBF721-79A8-4E3D-B1FF-D2570C2298AA}" type="presOf" srcId="{93AC536D-DE7F-4DA1-B44C-0322D4411B48}" destId="{3A13BE1A-E8A3-4C46-ADF9-5BF02FEF52CD}" srcOrd="0" destOrd="0" presId="urn:microsoft.com/office/officeart/2005/8/layout/radial6"/>
    <dgm:cxn modelId="{ACD8D927-1E3C-4368-AF83-0D5F865F3F10}" type="presOf" srcId="{5D64696B-21AB-4C5F-A502-E23CA2FC6654}" destId="{B4707EAC-A4BC-4937-A2A3-13CEB23A87C1}" srcOrd="0" destOrd="0" presId="urn:microsoft.com/office/officeart/2005/8/layout/radial6"/>
    <dgm:cxn modelId="{69F96E28-D7AD-4074-BD44-28AB50A34E2D}" srcId="{865C5916-1480-405A-8331-46A990CEFF2F}" destId="{BEF46821-6604-4E4C-9D77-1F7E12A1E600}" srcOrd="2" destOrd="0" parTransId="{53A09387-AE21-4DF0-819D-6276D8E386C8}" sibTransId="{93AC536D-DE7F-4DA1-B44C-0322D4411B48}"/>
    <dgm:cxn modelId="{3E259F2D-5299-482E-94C4-0998E3C8EC64}" type="presOf" srcId="{865C5916-1480-405A-8331-46A990CEFF2F}" destId="{284F6A40-C49E-4773-AA29-5DF539F1E37F}" srcOrd="0" destOrd="0" presId="urn:microsoft.com/office/officeart/2005/8/layout/radial6"/>
    <dgm:cxn modelId="{11A0BB2E-9532-449B-9339-1688DB6BB1BC}" type="presOf" srcId="{1E300187-C43D-489F-A6AC-44E5D59A4EEC}" destId="{EB1EA038-B078-493C-83F8-CA7DADB8517B}" srcOrd="0" destOrd="0" presId="urn:microsoft.com/office/officeart/2005/8/layout/radial6"/>
    <dgm:cxn modelId="{EA20482F-0429-45DB-B4D6-E293B973F687}" type="presOf" srcId="{BEF46821-6604-4E4C-9D77-1F7E12A1E600}" destId="{01F30C68-A23A-42A3-A6F2-EA618E01735E}" srcOrd="0" destOrd="0" presId="urn:microsoft.com/office/officeart/2005/8/layout/radial6"/>
    <dgm:cxn modelId="{8129E531-0910-4FB7-A7D5-B70AA7D65C69}" type="presOf" srcId="{54F25290-5333-4698-BC57-2EAF7DE40E30}" destId="{0A2951B4-78F3-4534-A885-DBC709EBC2BB}" srcOrd="0" destOrd="0" presId="urn:microsoft.com/office/officeart/2005/8/layout/radial6"/>
    <dgm:cxn modelId="{7E9CEA5C-07A9-432E-97C1-49BD6F439729}" srcId="{8FD4FBA6-BB42-48C3-975D-0301214356B0}" destId="{865C5916-1480-405A-8331-46A990CEFF2F}" srcOrd="0" destOrd="0" parTransId="{750AD2C2-852F-4134-AD5D-F2C64E738434}" sibTransId="{4C1101B1-A00F-4C23-90DF-206D58F017BD}"/>
    <dgm:cxn modelId="{CB685A4A-18FD-44E4-8ADE-4A4BF1A9A461}" type="presOf" srcId="{8FD4FBA6-BB42-48C3-975D-0301214356B0}" destId="{174040CF-C9CA-4E6B-924E-1F01E6D36A64}" srcOrd="0" destOrd="0" presId="urn:microsoft.com/office/officeart/2005/8/layout/radial6"/>
    <dgm:cxn modelId="{4AD06957-8537-4542-8943-3D57FE799F58}" srcId="{865C5916-1480-405A-8331-46A990CEFF2F}" destId="{1E300187-C43D-489F-A6AC-44E5D59A4EEC}" srcOrd="3" destOrd="0" parTransId="{2F0AA7AF-8BF3-410D-B300-595CFA3F0885}" sibTransId="{5D64696B-21AB-4C5F-A502-E23CA2FC6654}"/>
    <dgm:cxn modelId="{F625318B-9C63-479F-88E3-C5C8DAB3EE66}" srcId="{865C5916-1480-405A-8331-46A990CEFF2F}" destId="{50DC092C-8EB6-41D5-A762-094DDF283988}" srcOrd="1" destOrd="0" parTransId="{6F64FA8B-2120-4275-9AB8-9FC11D4D9918}" sibTransId="{EAAB6A87-2640-4C2A-A5FD-2C707BE6FEBF}"/>
    <dgm:cxn modelId="{E264B693-EBE8-426B-A40D-AC8E228FD203}" type="presOf" srcId="{EAAB6A87-2640-4C2A-A5FD-2C707BE6FEBF}" destId="{997E637F-2592-448E-9A68-B8706991C356}" srcOrd="0" destOrd="0" presId="urn:microsoft.com/office/officeart/2005/8/layout/radial6"/>
    <dgm:cxn modelId="{AAF507A8-0A81-4FB5-8D6B-A448F4F82438}" type="presOf" srcId="{50DC092C-8EB6-41D5-A762-094DDF283988}" destId="{0B710BF0-CDFB-45C5-B612-2A0C01B44E45}" srcOrd="0" destOrd="0" presId="urn:microsoft.com/office/officeart/2005/8/layout/radial6"/>
    <dgm:cxn modelId="{6CDF00F3-27D5-445B-A7C0-448DF567CA2D}" type="presOf" srcId="{AA0F340B-E7F7-4E16-B6CE-0474C1F64C7F}" destId="{D5F32800-EF31-43A8-985D-BF079F554F2E}" srcOrd="0" destOrd="0" presId="urn:microsoft.com/office/officeart/2005/8/layout/radial6"/>
    <dgm:cxn modelId="{98667809-6D77-4B9B-AD6E-392977CBCD4B}" type="presParOf" srcId="{174040CF-C9CA-4E6B-924E-1F01E6D36A64}" destId="{284F6A40-C49E-4773-AA29-5DF539F1E37F}" srcOrd="0" destOrd="0" presId="urn:microsoft.com/office/officeart/2005/8/layout/radial6"/>
    <dgm:cxn modelId="{DD43958F-4623-49D6-B8CB-DF7797E5759C}" type="presParOf" srcId="{174040CF-C9CA-4E6B-924E-1F01E6D36A64}" destId="{D5F32800-EF31-43A8-985D-BF079F554F2E}" srcOrd="1" destOrd="0" presId="urn:microsoft.com/office/officeart/2005/8/layout/radial6"/>
    <dgm:cxn modelId="{4F8EB56D-3C7A-43A0-9E88-F51272BD85F6}" type="presParOf" srcId="{174040CF-C9CA-4E6B-924E-1F01E6D36A64}" destId="{EA96B692-B4A4-46FF-B518-B27765A63DD6}" srcOrd="2" destOrd="0" presId="urn:microsoft.com/office/officeart/2005/8/layout/radial6"/>
    <dgm:cxn modelId="{4E8F0E16-0094-47BC-A156-852CB72291E6}" type="presParOf" srcId="{174040CF-C9CA-4E6B-924E-1F01E6D36A64}" destId="{0A2951B4-78F3-4534-A885-DBC709EBC2BB}" srcOrd="3" destOrd="0" presId="urn:microsoft.com/office/officeart/2005/8/layout/radial6"/>
    <dgm:cxn modelId="{EF324B65-2A8A-404F-AEE2-37A1109D2F72}" type="presParOf" srcId="{174040CF-C9CA-4E6B-924E-1F01E6D36A64}" destId="{0B710BF0-CDFB-45C5-B612-2A0C01B44E45}" srcOrd="4" destOrd="0" presId="urn:microsoft.com/office/officeart/2005/8/layout/radial6"/>
    <dgm:cxn modelId="{DC4750B0-303A-4D8E-BAA3-7AE6B729CACC}" type="presParOf" srcId="{174040CF-C9CA-4E6B-924E-1F01E6D36A64}" destId="{151247D2-D441-4598-90EC-8326393C6EC4}" srcOrd="5" destOrd="0" presId="urn:microsoft.com/office/officeart/2005/8/layout/radial6"/>
    <dgm:cxn modelId="{91E1D6D4-AB4E-456E-BF6A-228618A8A92E}" type="presParOf" srcId="{174040CF-C9CA-4E6B-924E-1F01E6D36A64}" destId="{997E637F-2592-448E-9A68-B8706991C356}" srcOrd="6" destOrd="0" presId="urn:microsoft.com/office/officeart/2005/8/layout/radial6"/>
    <dgm:cxn modelId="{8EA7BF5D-D590-4704-B0BA-92293B7E55E3}" type="presParOf" srcId="{174040CF-C9CA-4E6B-924E-1F01E6D36A64}" destId="{01F30C68-A23A-42A3-A6F2-EA618E01735E}" srcOrd="7" destOrd="0" presId="urn:microsoft.com/office/officeart/2005/8/layout/radial6"/>
    <dgm:cxn modelId="{F123122B-7BAB-4352-ABAD-729BD202E66D}" type="presParOf" srcId="{174040CF-C9CA-4E6B-924E-1F01E6D36A64}" destId="{1C25AC4F-E6AE-4F01-9188-2FFEE061627E}" srcOrd="8" destOrd="0" presId="urn:microsoft.com/office/officeart/2005/8/layout/radial6"/>
    <dgm:cxn modelId="{61F0D00B-2ED4-45C4-8C12-05E8BAB936FD}" type="presParOf" srcId="{174040CF-C9CA-4E6B-924E-1F01E6D36A64}" destId="{3A13BE1A-E8A3-4C46-ADF9-5BF02FEF52CD}" srcOrd="9" destOrd="0" presId="urn:microsoft.com/office/officeart/2005/8/layout/radial6"/>
    <dgm:cxn modelId="{ACB61A21-7EA5-4C54-8914-57D635387999}" type="presParOf" srcId="{174040CF-C9CA-4E6B-924E-1F01E6D36A64}" destId="{EB1EA038-B078-493C-83F8-CA7DADB8517B}" srcOrd="10" destOrd="0" presId="urn:microsoft.com/office/officeart/2005/8/layout/radial6"/>
    <dgm:cxn modelId="{5F8F6493-2D49-4FF9-A57B-6E5034084468}" type="presParOf" srcId="{174040CF-C9CA-4E6B-924E-1F01E6D36A64}" destId="{972E59CF-2C73-47A7-9BAC-F6D6EA7D8B7E}" srcOrd="11" destOrd="0" presId="urn:microsoft.com/office/officeart/2005/8/layout/radial6"/>
    <dgm:cxn modelId="{A28C52E8-3F9D-4413-AB02-0966564F5806}" type="presParOf" srcId="{174040CF-C9CA-4E6B-924E-1F01E6D36A64}" destId="{B4707EAC-A4BC-4937-A2A3-13CEB23A87C1}" srcOrd="12" destOrd="0" presId="urn:microsoft.com/office/officeart/2005/8/layout/radial6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51EF14C-4DFA-4D3F-A729-96C47923BBA7}" type="doc">
      <dgm:prSet loTypeId="urn:microsoft.com/office/officeart/2005/8/layout/vList3" loCatId="list" qsTypeId="urn:microsoft.com/office/officeart/2005/8/quickstyle/simple1" qsCatId="simple" csTypeId="urn:microsoft.com/office/officeart/2005/8/colors/colorful3" csCatId="colorful" phldr="1"/>
      <dgm:spPr/>
    </dgm:pt>
    <dgm:pt modelId="{F79F88CD-F4BE-4172-8AA5-5CF6D334C9E6}">
      <dgm:prSet phldrT="[Text]" phldr="1"/>
      <dgm:spPr/>
      <dgm:t>
        <a:bodyPr/>
        <a:lstStyle/>
        <a:p>
          <a:endParaRPr lang="en-IN" dirty="0"/>
        </a:p>
      </dgm:t>
    </dgm:pt>
    <dgm:pt modelId="{99363843-3A0E-4843-8A36-96668789A176}" type="parTrans" cxnId="{554882F9-5F10-4244-9324-EE3FD9538347}">
      <dgm:prSet/>
      <dgm:spPr/>
      <dgm:t>
        <a:bodyPr/>
        <a:lstStyle/>
        <a:p>
          <a:endParaRPr lang="en-IN"/>
        </a:p>
      </dgm:t>
    </dgm:pt>
    <dgm:pt modelId="{FE298A8B-BD1C-4253-8908-EC8E04D25DA4}" type="sibTrans" cxnId="{554882F9-5F10-4244-9324-EE3FD9538347}">
      <dgm:prSet/>
      <dgm:spPr/>
      <dgm:t>
        <a:bodyPr/>
        <a:lstStyle/>
        <a:p>
          <a:endParaRPr lang="en-IN"/>
        </a:p>
      </dgm:t>
    </dgm:pt>
    <dgm:pt modelId="{64C0F694-9D96-4B8E-BE05-5515157237D9}">
      <dgm:prSet phldrT="[Text]" phldr="1"/>
      <dgm:spPr/>
      <dgm:t>
        <a:bodyPr/>
        <a:lstStyle/>
        <a:p>
          <a:endParaRPr lang="en-IN" dirty="0"/>
        </a:p>
      </dgm:t>
    </dgm:pt>
    <dgm:pt modelId="{EE4D6E51-696B-4419-B7A0-7F51991F27AC}" type="parTrans" cxnId="{4050E83C-82AA-4A5B-AC5C-06AEA97FAA71}">
      <dgm:prSet/>
      <dgm:spPr/>
      <dgm:t>
        <a:bodyPr/>
        <a:lstStyle/>
        <a:p>
          <a:endParaRPr lang="en-IN"/>
        </a:p>
      </dgm:t>
    </dgm:pt>
    <dgm:pt modelId="{5D628ED8-7453-4A91-86E3-7ACAFF4BE93F}" type="sibTrans" cxnId="{4050E83C-82AA-4A5B-AC5C-06AEA97FAA71}">
      <dgm:prSet/>
      <dgm:spPr/>
      <dgm:t>
        <a:bodyPr/>
        <a:lstStyle/>
        <a:p>
          <a:endParaRPr lang="en-IN"/>
        </a:p>
      </dgm:t>
    </dgm:pt>
    <dgm:pt modelId="{1F70480E-8A2B-4C5B-8EA5-55555A23A06E}">
      <dgm:prSet phldrT="[Text]" phldr="1"/>
      <dgm:spPr/>
      <dgm:t>
        <a:bodyPr/>
        <a:lstStyle/>
        <a:p>
          <a:endParaRPr lang="en-IN"/>
        </a:p>
      </dgm:t>
    </dgm:pt>
    <dgm:pt modelId="{1B094B77-71B4-42F9-95AA-F7BDF9F0F90D}" type="parTrans" cxnId="{4F8E65FD-7ED4-4249-B0CE-AEF78B786E7C}">
      <dgm:prSet/>
      <dgm:spPr/>
      <dgm:t>
        <a:bodyPr/>
        <a:lstStyle/>
        <a:p>
          <a:endParaRPr lang="en-IN"/>
        </a:p>
      </dgm:t>
    </dgm:pt>
    <dgm:pt modelId="{6E61982C-059B-4E80-BCF3-10E98880EB87}" type="sibTrans" cxnId="{4F8E65FD-7ED4-4249-B0CE-AEF78B786E7C}">
      <dgm:prSet/>
      <dgm:spPr/>
      <dgm:t>
        <a:bodyPr/>
        <a:lstStyle/>
        <a:p>
          <a:endParaRPr lang="en-IN"/>
        </a:p>
      </dgm:t>
    </dgm:pt>
    <dgm:pt modelId="{BCFA30EA-9202-48B0-BB8C-3B1B06D0D48A}" type="pres">
      <dgm:prSet presAssocID="{151EF14C-4DFA-4D3F-A729-96C47923BBA7}" presName="linearFlow" presStyleCnt="0">
        <dgm:presLayoutVars>
          <dgm:dir/>
          <dgm:resizeHandles val="exact"/>
        </dgm:presLayoutVars>
      </dgm:prSet>
      <dgm:spPr/>
    </dgm:pt>
    <dgm:pt modelId="{A59D2E2E-200E-4E5E-A15D-4DBF2314635E}" type="pres">
      <dgm:prSet presAssocID="{F79F88CD-F4BE-4172-8AA5-5CF6D334C9E6}" presName="composite" presStyleCnt="0"/>
      <dgm:spPr/>
    </dgm:pt>
    <dgm:pt modelId="{14839EED-EB77-436E-8CC8-9C8E6E7C238C}" type="pres">
      <dgm:prSet presAssocID="{F79F88CD-F4BE-4172-8AA5-5CF6D334C9E6}" presName="imgShp" presStyleLbl="fgImgPlace1" presStyleIdx="0" presStyleCnt="3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le profile with solid fill"/>
        </a:ext>
      </dgm:extLst>
    </dgm:pt>
    <dgm:pt modelId="{BCFD83A0-A377-4C16-B467-7891DB99541D}" type="pres">
      <dgm:prSet presAssocID="{F79F88CD-F4BE-4172-8AA5-5CF6D334C9E6}" presName="txShp" presStyleLbl="node1" presStyleIdx="0" presStyleCnt="3">
        <dgm:presLayoutVars>
          <dgm:bulletEnabled val="1"/>
        </dgm:presLayoutVars>
      </dgm:prSet>
      <dgm:spPr/>
    </dgm:pt>
    <dgm:pt modelId="{7F10BBCB-2181-462B-BF20-39E017585FE3}" type="pres">
      <dgm:prSet presAssocID="{FE298A8B-BD1C-4253-8908-EC8E04D25DA4}" presName="spacing" presStyleCnt="0"/>
      <dgm:spPr/>
    </dgm:pt>
    <dgm:pt modelId="{1AFFE8FD-D694-4139-B8CA-82EE77E1E25A}" type="pres">
      <dgm:prSet presAssocID="{64C0F694-9D96-4B8E-BE05-5515157237D9}" presName="composite" presStyleCnt="0"/>
      <dgm:spPr/>
    </dgm:pt>
    <dgm:pt modelId="{3E274FFB-1F1E-4D07-8940-6987A0DE8F18}" type="pres">
      <dgm:prSet presAssocID="{64C0F694-9D96-4B8E-BE05-5515157237D9}" presName="imgShp" presStyleLbl="fgImgPlace1" presStyleIdx="1" presStyleCnt="3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 with solid fill"/>
        </a:ext>
      </dgm:extLst>
    </dgm:pt>
    <dgm:pt modelId="{0402EC73-314B-44B6-BA40-A962EB6F7BFA}" type="pres">
      <dgm:prSet presAssocID="{64C0F694-9D96-4B8E-BE05-5515157237D9}" presName="txShp" presStyleLbl="node1" presStyleIdx="1" presStyleCnt="3">
        <dgm:presLayoutVars>
          <dgm:bulletEnabled val="1"/>
        </dgm:presLayoutVars>
      </dgm:prSet>
      <dgm:spPr/>
    </dgm:pt>
    <dgm:pt modelId="{9B65C389-6F61-459B-A7B5-4AA5A0C2597D}" type="pres">
      <dgm:prSet presAssocID="{5D628ED8-7453-4A91-86E3-7ACAFF4BE93F}" presName="spacing" presStyleCnt="0"/>
      <dgm:spPr/>
    </dgm:pt>
    <dgm:pt modelId="{E9FA9C02-3CC6-4CD2-959C-F976F303FE25}" type="pres">
      <dgm:prSet presAssocID="{1F70480E-8A2B-4C5B-8EA5-55555A23A06E}" presName="composite" presStyleCnt="0"/>
      <dgm:spPr/>
    </dgm:pt>
    <dgm:pt modelId="{FE0B3DD1-3B7D-4DA3-BB6F-685490A57A43}" type="pres">
      <dgm:prSet presAssocID="{1F70480E-8A2B-4C5B-8EA5-55555A23A06E}" presName="imgShp" presStyleLbl="fgImgPlace1" presStyleIdx="2" presStyleCnt="3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ers with solid fill"/>
        </a:ext>
      </dgm:extLst>
    </dgm:pt>
    <dgm:pt modelId="{BAE2DDFB-F492-4070-BAF0-A6DC8FDB22A5}" type="pres">
      <dgm:prSet presAssocID="{1F70480E-8A2B-4C5B-8EA5-55555A23A06E}" presName="txShp" presStyleLbl="node1" presStyleIdx="2" presStyleCnt="3">
        <dgm:presLayoutVars>
          <dgm:bulletEnabled val="1"/>
        </dgm:presLayoutVars>
      </dgm:prSet>
      <dgm:spPr/>
    </dgm:pt>
  </dgm:ptLst>
  <dgm:cxnLst>
    <dgm:cxn modelId="{4050E83C-82AA-4A5B-AC5C-06AEA97FAA71}" srcId="{151EF14C-4DFA-4D3F-A729-96C47923BBA7}" destId="{64C0F694-9D96-4B8E-BE05-5515157237D9}" srcOrd="1" destOrd="0" parTransId="{EE4D6E51-696B-4419-B7A0-7F51991F27AC}" sibTransId="{5D628ED8-7453-4A91-86E3-7ACAFF4BE93F}"/>
    <dgm:cxn modelId="{FC83FB5A-54D4-4B30-B516-0500932B2E19}" type="presOf" srcId="{F79F88CD-F4BE-4172-8AA5-5CF6D334C9E6}" destId="{BCFD83A0-A377-4C16-B467-7891DB99541D}" srcOrd="0" destOrd="0" presId="urn:microsoft.com/office/officeart/2005/8/layout/vList3"/>
    <dgm:cxn modelId="{7DDA1C85-5819-4344-B741-6AE1170A6731}" type="presOf" srcId="{64C0F694-9D96-4B8E-BE05-5515157237D9}" destId="{0402EC73-314B-44B6-BA40-A962EB6F7BFA}" srcOrd="0" destOrd="0" presId="urn:microsoft.com/office/officeart/2005/8/layout/vList3"/>
    <dgm:cxn modelId="{796A099C-E92A-4937-8D91-20F5C94F77E8}" type="presOf" srcId="{151EF14C-4DFA-4D3F-A729-96C47923BBA7}" destId="{BCFA30EA-9202-48B0-BB8C-3B1B06D0D48A}" srcOrd="0" destOrd="0" presId="urn:microsoft.com/office/officeart/2005/8/layout/vList3"/>
    <dgm:cxn modelId="{2CA3A3C8-F525-4FC4-9824-7F90E408F4C2}" type="presOf" srcId="{1F70480E-8A2B-4C5B-8EA5-55555A23A06E}" destId="{BAE2DDFB-F492-4070-BAF0-A6DC8FDB22A5}" srcOrd="0" destOrd="0" presId="urn:microsoft.com/office/officeart/2005/8/layout/vList3"/>
    <dgm:cxn modelId="{554882F9-5F10-4244-9324-EE3FD9538347}" srcId="{151EF14C-4DFA-4D3F-A729-96C47923BBA7}" destId="{F79F88CD-F4BE-4172-8AA5-5CF6D334C9E6}" srcOrd="0" destOrd="0" parTransId="{99363843-3A0E-4843-8A36-96668789A176}" sibTransId="{FE298A8B-BD1C-4253-8908-EC8E04D25DA4}"/>
    <dgm:cxn modelId="{4F8E65FD-7ED4-4249-B0CE-AEF78B786E7C}" srcId="{151EF14C-4DFA-4D3F-A729-96C47923BBA7}" destId="{1F70480E-8A2B-4C5B-8EA5-55555A23A06E}" srcOrd="2" destOrd="0" parTransId="{1B094B77-71B4-42F9-95AA-F7BDF9F0F90D}" sibTransId="{6E61982C-059B-4E80-BCF3-10E98880EB87}"/>
    <dgm:cxn modelId="{DC2FEA92-2962-4B17-B27A-456DEEA3E32E}" type="presParOf" srcId="{BCFA30EA-9202-48B0-BB8C-3B1B06D0D48A}" destId="{A59D2E2E-200E-4E5E-A15D-4DBF2314635E}" srcOrd="0" destOrd="0" presId="urn:microsoft.com/office/officeart/2005/8/layout/vList3"/>
    <dgm:cxn modelId="{C1599519-A1FA-4646-9E54-C3572AC6E7A5}" type="presParOf" srcId="{A59D2E2E-200E-4E5E-A15D-4DBF2314635E}" destId="{14839EED-EB77-436E-8CC8-9C8E6E7C238C}" srcOrd="0" destOrd="0" presId="urn:microsoft.com/office/officeart/2005/8/layout/vList3"/>
    <dgm:cxn modelId="{EFC23899-B810-495D-B623-9074040D1B20}" type="presParOf" srcId="{A59D2E2E-200E-4E5E-A15D-4DBF2314635E}" destId="{BCFD83A0-A377-4C16-B467-7891DB99541D}" srcOrd="1" destOrd="0" presId="urn:microsoft.com/office/officeart/2005/8/layout/vList3"/>
    <dgm:cxn modelId="{57517E22-34A1-4A02-8C31-1AB6A558C543}" type="presParOf" srcId="{BCFA30EA-9202-48B0-BB8C-3B1B06D0D48A}" destId="{7F10BBCB-2181-462B-BF20-39E017585FE3}" srcOrd="1" destOrd="0" presId="urn:microsoft.com/office/officeart/2005/8/layout/vList3"/>
    <dgm:cxn modelId="{5B0FB6C2-8D56-4B23-8ACA-CE25C41ADAF9}" type="presParOf" srcId="{BCFA30EA-9202-48B0-BB8C-3B1B06D0D48A}" destId="{1AFFE8FD-D694-4139-B8CA-82EE77E1E25A}" srcOrd="2" destOrd="0" presId="urn:microsoft.com/office/officeart/2005/8/layout/vList3"/>
    <dgm:cxn modelId="{B4C05256-6102-4C8B-81E3-141426EB8C4A}" type="presParOf" srcId="{1AFFE8FD-D694-4139-B8CA-82EE77E1E25A}" destId="{3E274FFB-1F1E-4D07-8940-6987A0DE8F18}" srcOrd="0" destOrd="0" presId="urn:microsoft.com/office/officeart/2005/8/layout/vList3"/>
    <dgm:cxn modelId="{0BA35400-56BD-43D9-A80F-91CE5101F488}" type="presParOf" srcId="{1AFFE8FD-D694-4139-B8CA-82EE77E1E25A}" destId="{0402EC73-314B-44B6-BA40-A962EB6F7BFA}" srcOrd="1" destOrd="0" presId="urn:microsoft.com/office/officeart/2005/8/layout/vList3"/>
    <dgm:cxn modelId="{80BF0B39-30F0-4AAC-B7E9-70E7F86B3437}" type="presParOf" srcId="{BCFA30EA-9202-48B0-BB8C-3B1B06D0D48A}" destId="{9B65C389-6F61-459B-A7B5-4AA5A0C2597D}" srcOrd="3" destOrd="0" presId="urn:microsoft.com/office/officeart/2005/8/layout/vList3"/>
    <dgm:cxn modelId="{546E5A00-8ACF-404B-B7EF-685854F8BA2C}" type="presParOf" srcId="{BCFA30EA-9202-48B0-BB8C-3B1B06D0D48A}" destId="{E9FA9C02-3CC6-4CD2-959C-F976F303FE25}" srcOrd="4" destOrd="0" presId="urn:microsoft.com/office/officeart/2005/8/layout/vList3"/>
    <dgm:cxn modelId="{8442782B-117C-4FC4-9A34-2253043117B0}" type="presParOf" srcId="{E9FA9C02-3CC6-4CD2-959C-F976F303FE25}" destId="{FE0B3DD1-3B7D-4DA3-BB6F-685490A57A43}" srcOrd="0" destOrd="0" presId="urn:microsoft.com/office/officeart/2005/8/layout/vList3"/>
    <dgm:cxn modelId="{587D7258-F2AA-43A0-812F-1A9BE75DF8A8}" type="presParOf" srcId="{E9FA9C02-3CC6-4CD2-959C-F976F303FE25}" destId="{BAE2DDFB-F492-4070-BAF0-A6DC8FDB22A5}" srcOrd="1" destOrd="0" presId="urn:microsoft.com/office/officeart/2005/8/layout/vList3"/>
  </dgm:cxnLst>
  <dgm:bg/>
  <dgm:whole/>
  <dgm:extLst>
    <a:ext uri="http://schemas.microsoft.com/office/drawing/2008/diagram">
      <dsp:dataModelExt xmlns:dsp="http://schemas.microsoft.com/office/drawing/2008/diagram" relId="rId14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707EAC-A4BC-4937-A2A3-13CEB23A87C1}">
      <dsp:nvSpPr>
        <dsp:cNvPr id="0" name=""/>
        <dsp:cNvSpPr/>
      </dsp:nvSpPr>
      <dsp:spPr>
        <a:xfrm>
          <a:off x="443860" y="222079"/>
          <a:ext cx="1481412" cy="1481412"/>
        </a:xfrm>
        <a:prstGeom prst="blockArc">
          <a:avLst>
            <a:gd name="adj1" fmla="val 10800000"/>
            <a:gd name="adj2" fmla="val 16200000"/>
            <a:gd name="adj3" fmla="val 4644"/>
          </a:avLst>
        </a:prstGeom>
        <a:solidFill>
          <a:schemeClr val="accent2">
            <a:shade val="90000"/>
            <a:hueOff val="-481452"/>
            <a:satOff val="2416"/>
            <a:lumOff val="24259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A13BE1A-E8A3-4C46-ADF9-5BF02FEF52CD}">
      <dsp:nvSpPr>
        <dsp:cNvPr id="0" name=""/>
        <dsp:cNvSpPr/>
      </dsp:nvSpPr>
      <dsp:spPr>
        <a:xfrm>
          <a:off x="443860" y="222079"/>
          <a:ext cx="1481412" cy="1481412"/>
        </a:xfrm>
        <a:prstGeom prst="blockArc">
          <a:avLst>
            <a:gd name="adj1" fmla="val 5400000"/>
            <a:gd name="adj2" fmla="val 10800000"/>
            <a:gd name="adj3" fmla="val 4644"/>
          </a:avLst>
        </a:prstGeom>
        <a:solidFill>
          <a:schemeClr val="accent2">
            <a:shade val="90000"/>
            <a:hueOff val="-320968"/>
            <a:satOff val="1611"/>
            <a:lumOff val="16173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7E637F-2592-448E-9A68-B8706991C356}">
      <dsp:nvSpPr>
        <dsp:cNvPr id="0" name=""/>
        <dsp:cNvSpPr/>
      </dsp:nvSpPr>
      <dsp:spPr>
        <a:xfrm>
          <a:off x="443860" y="222079"/>
          <a:ext cx="1481412" cy="1481412"/>
        </a:xfrm>
        <a:prstGeom prst="blockArc">
          <a:avLst>
            <a:gd name="adj1" fmla="val 0"/>
            <a:gd name="adj2" fmla="val 5400000"/>
            <a:gd name="adj3" fmla="val 4644"/>
          </a:avLst>
        </a:prstGeom>
        <a:solidFill>
          <a:schemeClr val="accent2">
            <a:shade val="90000"/>
            <a:hueOff val="-160484"/>
            <a:satOff val="805"/>
            <a:lumOff val="8086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A2951B4-78F3-4534-A885-DBC709EBC2BB}">
      <dsp:nvSpPr>
        <dsp:cNvPr id="0" name=""/>
        <dsp:cNvSpPr/>
      </dsp:nvSpPr>
      <dsp:spPr>
        <a:xfrm>
          <a:off x="443860" y="222079"/>
          <a:ext cx="1481412" cy="1481412"/>
        </a:xfrm>
        <a:prstGeom prst="blockArc">
          <a:avLst>
            <a:gd name="adj1" fmla="val 16200000"/>
            <a:gd name="adj2" fmla="val 0"/>
            <a:gd name="adj3" fmla="val 4644"/>
          </a:avLst>
        </a:prstGeom>
        <a:solidFill>
          <a:schemeClr val="accent2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4F6A40-C49E-4773-AA29-5DF539F1E37F}">
      <dsp:nvSpPr>
        <dsp:cNvPr id="0" name=""/>
        <dsp:cNvSpPr/>
      </dsp:nvSpPr>
      <dsp:spPr>
        <a:xfrm>
          <a:off x="843309" y="621529"/>
          <a:ext cx="682513" cy="682513"/>
        </a:xfrm>
        <a:prstGeom prst="ellipse">
          <a:avLst/>
        </a:prstGeom>
        <a:solidFill>
          <a:schemeClr val="accent2">
            <a:shade val="8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500" kern="1200" dirty="0"/>
        </a:p>
      </dsp:txBody>
      <dsp:txXfrm>
        <a:off x="943261" y="721481"/>
        <a:ext cx="482609" cy="482609"/>
      </dsp:txXfrm>
    </dsp:sp>
    <dsp:sp modelId="{D5F32800-EF31-43A8-985D-BF079F554F2E}">
      <dsp:nvSpPr>
        <dsp:cNvPr id="0" name=""/>
        <dsp:cNvSpPr/>
      </dsp:nvSpPr>
      <dsp:spPr>
        <a:xfrm>
          <a:off x="945686" y="399"/>
          <a:ext cx="477759" cy="477759"/>
        </a:xfrm>
        <a:prstGeom prst="ellipse">
          <a:avLst/>
        </a:prstGeom>
        <a:solidFill>
          <a:schemeClr val="accent2">
            <a:shade val="8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000" kern="1200"/>
        </a:p>
      </dsp:txBody>
      <dsp:txXfrm>
        <a:off x="1015652" y="70365"/>
        <a:ext cx="337827" cy="337827"/>
      </dsp:txXfrm>
    </dsp:sp>
    <dsp:sp modelId="{0B710BF0-CDFB-45C5-B612-2A0C01B44E45}">
      <dsp:nvSpPr>
        <dsp:cNvPr id="0" name=""/>
        <dsp:cNvSpPr/>
      </dsp:nvSpPr>
      <dsp:spPr>
        <a:xfrm>
          <a:off x="1669193" y="723906"/>
          <a:ext cx="477759" cy="477759"/>
        </a:xfrm>
        <a:prstGeom prst="ellipse">
          <a:avLst/>
        </a:prstGeom>
        <a:solidFill>
          <a:schemeClr val="accent2">
            <a:shade val="80000"/>
            <a:hueOff val="-160472"/>
            <a:satOff val="3389"/>
            <a:lumOff val="902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000" kern="1200"/>
        </a:p>
      </dsp:txBody>
      <dsp:txXfrm>
        <a:off x="1739159" y="793872"/>
        <a:ext cx="337827" cy="337827"/>
      </dsp:txXfrm>
    </dsp:sp>
    <dsp:sp modelId="{01F30C68-A23A-42A3-A6F2-EA618E01735E}">
      <dsp:nvSpPr>
        <dsp:cNvPr id="0" name=""/>
        <dsp:cNvSpPr/>
      </dsp:nvSpPr>
      <dsp:spPr>
        <a:xfrm>
          <a:off x="945686" y="1447412"/>
          <a:ext cx="477759" cy="477759"/>
        </a:xfrm>
        <a:prstGeom prst="ellipse">
          <a:avLst/>
        </a:prstGeom>
        <a:solidFill>
          <a:schemeClr val="accent2">
            <a:shade val="80000"/>
            <a:hueOff val="-320943"/>
            <a:satOff val="6777"/>
            <a:lumOff val="1805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000" kern="1200"/>
        </a:p>
      </dsp:txBody>
      <dsp:txXfrm>
        <a:off x="1015652" y="1517378"/>
        <a:ext cx="337827" cy="337827"/>
      </dsp:txXfrm>
    </dsp:sp>
    <dsp:sp modelId="{EB1EA038-B078-493C-83F8-CA7DADB8517B}">
      <dsp:nvSpPr>
        <dsp:cNvPr id="0" name=""/>
        <dsp:cNvSpPr/>
      </dsp:nvSpPr>
      <dsp:spPr>
        <a:xfrm>
          <a:off x="222179" y="723906"/>
          <a:ext cx="477759" cy="477759"/>
        </a:xfrm>
        <a:prstGeom prst="ellipse">
          <a:avLst/>
        </a:prstGeom>
        <a:solidFill>
          <a:schemeClr val="accent2">
            <a:shade val="80000"/>
            <a:hueOff val="-481415"/>
            <a:satOff val="10166"/>
            <a:lumOff val="2708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000" kern="1200"/>
        </a:p>
      </dsp:txBody>
      <dsp:txXfrm>
        <a:off x="292145" y="793872"/>
        <a:ext cx="337827" cy="33782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CFD83A0-A377-4C16-B467-7891DB99541D}">
      <dsp:nvSpPr>
        <dsp:cNvPr id="0" name=""/>
        <dsp:cNvSpPr/>
      </dsp:nvSpPr>
      <dsp:spPr>
        <a:xfrm rot="10800000">
          <a:off x="537729" y="669"/>
          <a:ext cx="1684858" cy="453392"/>
        </a:xfrm>
        <a:prstGeom prst="homePlat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9933" tIns="80010" rIns="149352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2100" kern="1200" dirty="0"/>
        </a:p>
      </dsp:txBody>
      <dsp:txXfrm rot="10800000">
        <a:off x="651077" y="669"/>
        <a:ext cx="1571510" cy="453392"/>
      </dsp:txXfrm>
    </dsp:sp>
    <dsp:sp modelId="{14839EED-EB77-436E-8CC8-9C8E6E7C238C}">
      <dsp:nvSpPr>
        <dsp:cNvPr id="0" name=""/>
        <dsp:cNvSpPr/>
      </dsp:nvSpPr>
      <dsp:spPr>
        <a:xfrm>
          <a:off x="311033" y="669"/>
          <a:ext cx="453392" cy="453392"/>
        </a:xfrm>
        <a:prstGeom prst="ellipse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402EC73-314B-44B6-BA40-A962EB6F7BFA}">
      <dsp:nvSpPr>
        <dsp:cNvPr id="0" name=""/>
        <dsp:cNvSpPr/>
      </dsp:nvSpPr>
      <dsp:spPr>
        <a:xfrm rot="10800000">
          <a:off x="537729" y="589402"/>
          <a:ext cx="1684858" cy="453392"/>
        </a:xfrm>
        <a:prstGeom prst="homePlate">
          <a:avLst/>
        </a:prstGeom>
        <a:solidFill>
          <a:schemeClr val="accent3">
            <a:hueOff val="1355300"/>
            <a:satOff val="50000"/>
            <a:lumOff val="-735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9933" tIns="80010" rIns="149352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2100" kern="1200" dirty="0"/>
        </a:p>
      </dsp:txBody>
      <dsp:txXfrm rot="10800000">
        <a:off x="651077" y="589402"/>
        <a:ext cx="1571510" cy="453392"/>
      </dsp:txXfrm>
    </dsp:sp>
    <dsp:sp modelId="{3E274FFB-1F1E-4D07-8940-6987A0DE8F18}">
      <dsp:nvSpPr>
        <dsp:cNvPr id="0" name=""/>
        <dsp:cNvSpPr/>
      </dsp:nvSpPr>
      <dsp:spPr>
        <a:xfrm>
          <a:off x="311033" y="589402"/>
          <a:ext cx="453392" cy="453392"/>
        </a:xfrm>
        <a:prstGeom prst="ellipse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AE2DDFB-F492-4070-BAF0-A6DC8FDB22A5}">
      <dsp:nvSpPr>
        <dsp:cNvPr id="0" name=""/>
        <dsp:cNvSpPr/>
      </dsp:nvSpPr>
      <dsp:spPr>
        <a:xfrm rot="10800000">
          <a:off x="537729" y="1178135"/>
          <a:ext cx="1684858" cy="453392"/>
        </a:xfrm>
        <a:prstGeom prst="homePlate">
          <a:avLst/>
        </a:prstGeom>
        <a:solidFill>
          <a:schemeClr val="accent3">
            <a:hueOff val="2710599"/>
            <a:satOff val="100000"/>
            <a:lumOff val="-1470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9933" tIns="80010" rIns="149352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2100" kern="1200"/>
        </a:p>
      </dsp:txBody>
      <dsp:txXfrm rot="10800000">
        <a:off x="651077" y="1178135"/>
        <a:ext cx="1571510" cy="453392"/>
      </dsp:txXfrm>
    </dsp:sp>
    <dsp:sp modelId="{FE0B3DD1-3B7D-4DA3-BB6F-685490A57A43}">
      <dsp:nvSpPr>
        <dsp:cNvPr id="0" name=""/>
        <dsp:cNvSpPr/>
      </dsp:nvSpPr>
      <dsp:spPr>
        <a:xfrm>
          <a:off x="311033" y="1178135"/>
          <a:ext cx="453392" cy="453392"/>
        </a:xfrm>
        <a:prstGeom prst="ellipse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radial6">
  <dgm:title val=""/>
  <dgm:desc val=""/>
  <dgm:catLst>
    <dgm:cat type="cycle" pri="9000"/>
    <dgm:cat type="relationship" pri="2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Name0">
    <dgm:varLst>
      <dgm:chMax val="1"/>
      <dgm:dir/>
      <dgm:animLvl val="ctr"/>
      <dgm:resizeHandles val="exact"/>
    </dgm:varLst>
    <dgm:choose name="Name1">
      <dgm:if name="Name2" func="var" arg="dir" op="equ" val="norm">
        <dgm:choose name="Name3">
          <dgm:if name="Name4" axis="ch ch" ptType="node node" st="1 1" cnt="1 0" func="cnt" op="lte" val="1">
            <dgm:alg type="cycle">
              <dgm:param type="stAng" val="90"/>
              <dgm:param type="spanAng" val="360"/>
              <dgm:param type="ctrShpMap" val="fNode"/>
            </dgm:alg>
          </dgm:if>
          <dgm:else name="Name5">
            <dgm:alg type="cycle">
              <dgm:param type="stAng" val="0"/>
              <dgm:param type="spanAng" val="360"/>
              <dgm:param type="ctrShpMap" val="fNode"/>
            </dgm:alg>
          </dgm:else>
        </dgm:choose>
      </dgm:if>
      <dgm:else name="Name6">
        <dgm:choose name="Name7">
          <dgm:if name="Name8" axis="ch ch" ptType="node node" st="1 1" cnt="1 0" func="cnt" op="lte" val="1">
            <dgm:alg type="cycle">
              <dgm:param type="stAng" val="-90"/>
              <dgm:param type="spanAng" val="360"/>
              <dgm:param type="ctrShpMap" val="fNode"/>
            </dgm:alg>
          </dgm:if>
          <dgm:else name="Name9">
            <dgm:alg type="cycle">
              <dgm:param type="stAng" val="0"/>
              <dgm:param type="spanAng" val="-360"/>
              <dgm:param type="ctrShpMap" val="fNode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10">
      <dgm:if name="Name11" func="var" arg="dir" op="equ" val="norm">
        <dgm:choose name="Name12">
          <dgm:if name="Name13" axis="ch ch" ptType="node node" st="1 1" cnt="1 0" func="cnt" op="equ" val="1">
            <dgm:constrLst>
              <dgm:constr type="diam" val="170"/>
              <dgm:constr type="w" for="ch" forName="centerShape" refType="w"/>
              <dgm:constr type="w" for="ch" forName="oneComp" refType="w" refFor="ch" refForName="centerShape" op="equ" fact="0.7"/>
              <dgm:constr type="sp" refType="w" refFor="ch" refForName="oneComp" fact="0.3"/>
              <dgm:constr type="sibSp" refType="w" refFor="ch" refForName="oneComp" fact="0.3"/>
              <dgm:constr type="primFontSz" for="ch" forName="centerShape" val="65"/>
              <dgm:constr type="primFontSz" for="des" forName="oneNode" refType="primFontSz" refFor="ch" refForName="centerShape" fact="0.95"/>
              <dgm:constr type="primFontSz" for="des" forName="oneNode" refType="primFontSz" refFor="ch" refForName="centerShape" op="lte" fact="0.95"/>
              <dgm:constr type="diam" for="ch" forName="singleconn" refType="diam" op="equ" fact="-1"/>
              <dgm:constr type="h" for="ch" forName="singleconn" refType="w" refFor="ch" refForName="oneComp" fact="0.24"/>
              <dgm:constr type="w" for="ch" forName="dummya" refType="w" refFor="ch" refForName="oneComp" op="equ"/>
              <dgm:constr type="w" for="ch" forName="dummyb" refType="w" refFor="ch" refForName="oneComp" op="equ"/>
              <dgm:constr type="w" for="ch" forName="dummyc" refType="w" refFor="ch" refForName="oneComp" op="equ"/>
            </dgm:constrLst>
          </dgm:if>
          <dgm:else name="Name14">
            <dgm:constrLst>
              <dgm:constr type="diam" val="170"/>
              <dgm:constr type="w" for="ch" forName="centerShape" refType="w"/>
              <dgm:constr type="w" for="ch" forName="node" refType="w" refFor="ch" refForName="centerShape" op="equ" fact="0.7"/>
              <dgm:constr type="sp" refType="w" refFor="ch" refForName="node" fact="0.3"/>
              <dgm:constr type="sibSp" refType="w" refFor="ch" refForName="node" fact="0.3"/>
              <dgm:constr type="primFontSz" for="ch" forName="centerShape" val="65"/>
              <dgm:constr type="primFontSz" for="des" forName="node" refType="primFontSz" refFor="ch" refForName="centerShape" fact="0.78"/>
              <dgm:constr type="primFontSz" for="ch" forName="node" refType="primFontSz" refFor="ch" refForName="centerShape" op="lte" fact="0.95"/>
              <dgm:constr type="diam" for="ch" forName="sibTrans" refType="diam" op="equ"/>
              <dgm:constr type="h" for="ch" forName="sibTrans" refType="w" refFor="ch" refForName="node" fact="0.24"/>
              <dgm:constr type="w" for="ch" forName="dummy" val="1"/>
            </dgm:constrLst>
          </dgm:else>
        </dgm:choose>
      </dgm:if>
      <dgm:else name="Name15">
        <dgm:choose name="Name16">
          <dgm:if name="Name17" axis="ch ch" ptType="node node" st="1 1" cnt="1 0" func="cnt" op="equ" val="1">
            <dgm:constrLst>
              <dgm:constr type="diam" val="170"/>
              <dgm:constr type="w" for="ch" forName="centerShape" refType="w"/>
              <dgm:constr type="w" for="ch" forName="oneComp" refType="w" refFor="ch" refForName="centerShape" op="equ" fact="0.7"/>
              <dgm:constr type="sp" refType="w" refFor="ch" refForName="oneComp" fact="0.3"/>
              <dgm:constr type="sibSp" refType="w" refFor="ch" refForName="oneComp" fact="0.3"/>
              <dgm:constr type="primFontSz" for="ch" forName="centerShape" val="65"/>
              <dgm:constr type="primFontSz" for="des" forName="oneNode" refType="primFontSz" refFor="ch" refForName="centerShape" fact="0.95"/>
              <dgm:constr type="primFontSz" for="ch" forName="oneNode" refType="primFontSz" refFor="ch" refForName="centerShape" op="lte" fact="0.95"/>
              <dgm:constr type="diam" for="ch" forName="singleconn" refType="diam"/>
              <dgm:constr type="h" for="ch" forName="singleconn" refType="w" refFor="ch" refForName="oneComp" fact="0.24"/>
              <dgm:constr type="diam" for="ch" refType="diam" op="equ"/>
              <dgm:constr type="w" for="ch" forName="dummya" refType="w" refFor="ch" refForName="oneComp" op="equ"/>
              <dgm:constr type="w" for="ch" forName="dummyb" refType="w" refFor="ch" refForName="oneComp" op="equ"/>
              <dgm:constr type="w" for="ch" forName="dummyc" refType="w" refFor="ch" refForName="oneComp" op="equ"/>
            </dgm:constrLst>
          </dgm:if>
          <dgm:else name="Name18">
            <dgm:constrLst>
              <dgm:constr type="diam" val="170"/>
              <dgm:constr type="w" for="ch" forName="centerShape" refType="w"/>
              <dgm:constr type="w" for="ch" forName="node" refType="w" refFor="ch" refForName="centerShape" op="equ" fact="0.7"/>
              <dgm:constr type="sp" refType="w" refFor="ch" refForName="node" fact="0.3"/>
              <dgm:constr type="sibSp" refType="w" refFor="ch" refForName="node" fact="0.3"/>
              <dgm:constr type="primFontSz" for="ch" forName="centerShape" val="65"/>
              <dgm:constr type="primFontSz" for="des" forName="node" refType="primFontSz" refFor="ch" refForName="centerShape" fact="0.78"/>
              <dgm:constr type="primFontSz" for="ch" forName="node" refType="primFontSz" refFor="ch" refForName="centerShape" op="lte" fact="0.95"/>
              <dgm:constr type="diam" for="ch" ptType="sibTrans" refType="diam" fact="-1"/>
              <dgm:constr type="h" for="ch" forName="sibTrans" refType="w" refFor="ch" refForName="node" fact="0.24"/>
              <dgm:constr type="diam" for="ch" refType="diam" op="equ" fact="-1"/>
              <dgm:constr type="w" for="ch" forName="dummy" val="1"/>
            </dgm:constrLst>
          </dgm:else>
        </dgm:choose>
      </dgm:else>
    </dgm:choose>
    <dgm:ruleLst>
      <dgm:rule type="diam" val="INF" fact="NaN" max="NaN"/>
    </dgm:ruleLst>
    <dgm:forEach name="Name19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h" refType="w"/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forEach name="Name20" axis="ch">
        <dgm:forEach name="Name21" axis="self" ptType="node">
          <dgm:choose name="Name22">
            <dgm:if name="Name23" axis="par ch" ptType="node node" func="cnt" op="gt" val="1">
              <dgm:layoutNode name="node" styleLbl="node1">
                <dgm:varLst>
                  <dgm:bulletEnabled val="1"/>
                </dgm:varLst>
                <dgm:alg type="tx">
                  <dgm:param type="txAnchorVertCh" val="mid"/>
                </dgm:alg>
                <dgm:shape xmlns:r="http://schemas.openxmlformats.org/officeDocument/2006/relationships" type="ellipse" r:blip="">
                  <dgm:adjLst/>
                </dgm:shape>
                <dgm:presOf axis="desOrSelf" ptType="node"/>
                <dgm:constrLst>
                  <dgm:constr type="h" refType="w"/>
                  <dgm:constr type="tMarg" refType="primFontSz" fact="0.1"/>
                  <dgm:constr type="bMarg" refType="primFontSz" fact="0.1"/>
                  <dgm:constr type="lMarg" refType="primFontSz" fact="0.1"/>
                  <dgm:constr type="rMarg" refType="primFontSz" fact="0.1"/>
                </dgm:constrLst>
                <dgm:ruleLst>
                  <dgm:rule type="primFontSz" val="5" fact="NaN" max="NaN"/>
                </dgm:ruleLst>
              </dgm:layoutNode>
              <dgm:layoutNode name="dummy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forEach name="sibTransForEach" axis="followSib" ptType="sibTrans" hideLastTrans="0" cnt="1">
                <dgm:layoutNode name="sibTrans" styleLbl="sibTrans2D1">
                  <dgm:alg type="conn">
                    <dgm:param type="connRout" val="curve"/>
                    <dgm:param type="begPts" val="ctr"/>
                    <dgm:param type="endPts" val="ctr"/>
                    <dgm:param type="begSty" val="noArr"/>
                    <dgm:param type="endSty" val="noArr"/>
                    <dgm:param type="dstNode" val="node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</dgm:if>
            <dgm:if name="Name24" axis="par ch" ptType="node node" func="cnt" op="equ" val="1">
              <dgm:layoutNode name="oneComp">
                <dgm:alg type="composite">
                  <dgm:param type="ar" val="1"/>
                </dgm:alg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  <dgm:constr type="l" for="ch" forName="dummyConnPt" refType="w" fact="0.5"/>
                  <dgm:constr type="t" for="ch" forName="dummyConnPt" refType="w" fact="0.5"/>
                  <dgm:constr type="l" for="ch" forName="oneNode"/>
                  <dgm:constr type="t" for="ch" forName="oneNode"/>
                  <dgm:constr type="h" for="ch" forName="oneNode" refType="h"/>
                  <dgm:constr type="w" for="ch" forName="oneNode" refType="w"/>
                </dgm:constrLst>
                <dgm:ruleLst/>
                <dgm:layoutNode name="dummyConnPt" styleLbl="node1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val="1"/>
                    <dgm:constr type="h" val="1"/>
                  </dgm:constrLst>
                  <dgm:ruleLst/>
                </dgm:layoutNode>
                <dgm:layoutNode name="oneNode" styleLbl="node1">
                  <dgm:varLst>
                    <dgm:bulletEnabled val="1"/>
                  </dgm:varLst>
                  <dgm:alg type="tx">
                    <dgm:param type="txAnchorVertCh" val="mid"/>
                  </dgm:alg>
                  <dgm:shape xmlns:r="http://schemas.openxmlformats.org/officeDocument/2006/relationships" type="ellipse" r:blip="">
                    <dgm:adjLst/>
                  </dgm:shape>
                  <dgm:presOf axis="desOrSelf" ptType="node"/>
                  <dgm:constrLst>
                    <dgm:constr type="h" refType="w"/>
                    <dgm:constr type="tMarg" refType="primFontSz" fact="0.1"/>
                    <dgm:constr type="bMarg" refType="primFontSz" fact="0.1"/>
                    <dgm:constr type="lMarg" refType="primFontSz" fact="0.1"/>
                    <dgm:constr type="rMarg" refType="primFontSz" fact="0.1"/>
                  </dgm:constrLst>
                  <dgm:ruleLst>
                    <dgm:rule type="primFontSz" val="5" fact="NaN" max="NaN"/>
                  </dgm:ruleLst>
                </dgm:layoutNode>
              </dgm:layoutNode>
              <dgm:layoutNode name="dummya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layoutNode name="dummyb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layoutNode name="dummyc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forEach name="sibTransForEach1" axis="followSib" ptType="sibTrans" hideLastTrans="0" cnt="1">
                <dgm:layoutNode name="singleconn" styleLbl="sibTrans2D1">
                  <dgm:alg type="conn">
                    <dgm:param type="connRout" val="longCurve"/>
                    <dgm:param type="begPts" val="bCtr"/>
                    <dgm:param type="endPts" val="tCtr"/>
                    <dgm:param type="begSty" val="noArr"/>
                    <dgm:param type="endSty" val="noArr"/>
                    <dgm:param type="srcNode" val="dummyConnPt"/>
                    <dgm:param type="dstNode" val="dummyConnPt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</dgm:if>
            <dgm:else name="Name25"/>
          </dgm:choose>
        </dgm:forEach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3">
  <dgm:title val=""/>
  <dgm:desc val=""/>
  <dgm:catLst>
    <dgm:cat type="list" pri="14000"/>
    <dgm:cat type="convert" pri="3000"/>
    <dgm:cat type="picture" pri="27000"/>
    <dgm:cat type="pictureconvert" pri="27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dir/>
      <dgm:resizeHandles val="exact"/>
    </dgm:varLst>
    <dgm:alg type="lin">
      <dgm:param type="linDir" val="fromT"/>
      <dgm:param type="vertAlign" val="mid"/>
      <dgm:param type="horzAlign" val="ctr"/>
    </dgm:alg>
    <dgm:shape xmlns:r="http://schemas.openxmlformats.org/officeDocument/2006/relationships" r:blip="">
      <dgm:adjLst/>
    </dgm:shape>
    <dgm:presOf/>
    <dgm:constrLst>
      <dgm:constr type="w" for="ch" forName="composite" refType="w"/>
      <dgm:constr type="h" for="ch" forName="composite" refType="h"/>
      <dgm:constr type="h" for="ch" forName="spacing" refType="h" refFor="ch" refForName="composite" fact="0.25"/>
      <dgm:constr type="h" for="ch" forName="spacing" refType="w" op="lte" fact="0.1"/>
      <dgm:constr type="primFontSz" for="des" ptType="node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l" for="ch" forName="imgShp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l" for="ch" forName="txShp" refType="w" refFor="ch" refForName="imgShp" fact="0.5"/>
              <dgm:constr type="lMarg" for="ch" forName="txShp" refType="w" refFor="ch" refForName="imgShp" fact="1.25"/>
            </dgm:constrLst>
          </dgm:if>
          <dgm:else name="Name3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r" for="ch" forName="imgShp" refType="w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r" for="ch" forName="txShp" refType="ctrX" refFor="ch" refForName="imgShp"/>
              <dgm:constr type="rMarg" for="ch" forName="txShp" refType="w" refFor="ch" refForName="imgShp" fact="1.25"/>
            </dgm:constrLst>
          </dgm:else>
        </dgm:choose>
        <dgm:ruleLst/>
        <dgm:layoutNode name="imgShp" styleLbl="fgImgPlac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  <dgm:layoutNode name="txShp">
          <dgm:varLst>
            <dgm:bulletEnabled val="1"/>
          </dgm:varLst>
          <dgm:alg type="tx"/>
          <dgm:choose name="Name4">
            <dgm:if name="Name5" func="var" arg="dir" op="equ" val="norm">
              <dgm:shape xmlns:r="http://schemas.openxmlformats.org/officeDocument/2006/relationships" rot="180" type="homePlate" r:blip="" zOrderOff="-1">
                <dgm:adjLst/>
              </dgm:shape>
            </dgm:if>
            <dgm:else name="Name6">
              <dgm:shape xmlns:r="http://schemas.openxmlformats.org/officeDocument/2006/relationships" type="homePlate" r:blip="" zOrderOff="-1">
                <dgm:adjLst/>
              </dgm:shape>
            </dgm:else>
          </dgm:choose>
          <dgm:presOf axis="desOrSelf" ptType="node"/>
          <dgm:constrLst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layoutNode>
      <dgm:forEach name="Name7" axis="followSib" ptType="sibTrans" cnt="1">
        <dgm:layoutNode name="spacing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101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ED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A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microsoft.com/office/2017/06/relationships/model3d" Target="../media/model3d1.glb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5.png"/><Relationship Id="rId9" Type="http://schemas.microsoft.com/office/2007/relationships/diagramDrawing" Target="../diagrams/drawing1.xml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17/06/relationships/model3d" Target="../media/model3d1.glb"/><Relationship Id="rId13" Type="http://schemas.openxmlformats.org/officeDocument/2006/relationships/diagramColors" Target="../diagrams/colors2.xml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12" Type="http://schemas.openxmlformats.org/officeDocument/2006/relationships/diagramQuickStyle" Target="../diagrams/quickStyle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svg"/><Relationship Id="rId11" Type="http://schemas.openxmlformats.org/officeDocument/2006/relationships/diagramLayout" Target="../diagrams/layout2.xml"/><Relationship Id="rId5" Type="http://schemas.openxmlformats.org/officeDocument/2006/relationships/image" Target="../media/image8.svg"/><Relationship Id="rId10" Type="http://schemas.openxmlformats.org/officeDocument/2006/relationships/diagramData" Target="../diagrams/data2.xml"/><Relationship Id="rId4" Type="http://schemas.openxmlformats.org/officeDocument/2006/relationships/image" Target="../media/image7.svg"/><Relationship Id="rId9" Type="http://schemas.openxmlformats.org/officeDocument/2006/relationships/image" Target="../media/image11.png"/><Relationship Id="rId14" Type="http://schemas.microsoft.com/office/2007/relationships/diagramDrawing" Target="../diagrams/drawing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microsoft.com/office/2017/06/relationships/model3d" Target="../media/model3d2.glb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7.png"/><Relationship Id="rId7" Type="http://schemas.microsoft.com/office/2017/06/relationships/model3d" Target="../media/model3d2.glb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EBE2E0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92" y="500559"/>
            <a:ext cx="4392403" cy="5856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2312491"/>
            <a:ext cx="6296860" cy="5611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AriZon — Smart PDS</a:t>
            </a:r>
            <a:endParaRPr lang="en-US" sz="3500" dirty="0"/>
          </a:p>
        </p:txBody>
      </p:sp>
      <p:sp>
        <p:nvSpPr>
          <p:cNvPr id="5" name="Text 2"/>
          <p:cNvSpPr/>
          <p:nvPr/>
        </p:nvSpPr>
        <p:spPr>
          <a:xfrm>
            <a:off x="5233360" y="3129558"/>
            <a:ext cx="6906444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Next-Generation ration stock tracking &amp; secure AI oversight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502633" y="3793430"/>
            <a:ext cx="6027587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"Know the stock before you travel. Track the supply. Verify the transaction."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233360" y="3601541"/>
            <a:ext cx="25399" cy="943967"/>
          </a:xfrm>
          <a:prstGeom prst="roundRect">
            <a:avLst>
              <a:gd name="adj" fmla="val 50001"/>
            </a:avLst>
          </a:prstGeom>
          <a:solidFill>
            <a:srgbClr val="835E54"/>
          </a:solidFill>
          <a:ln/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64C6BF-8334-0186-7568-2276FA2CCA88}"/>
              </a:ext>
            </a:extLst>
          </p:cNvPr>
          <p:cNvSpPr/>
          <p:nvPr/>
        </p:nvSpPr>
        <p:spPr>
          <a:xfrm>
            <a:off x="11010123" y="6559421"/>
            <a:ext cx="1390261" cy="280095"/>
          </a:xfrm>
          <a:prstGeom prst="rect">
            <a:avLst/>
          </a:prstGeom>
          <a:solidFill>
            <a:srgbClr val="FFFC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EBE2E0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3" y="481806"/>
            <a:ext cx="4420680" cy="58943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751284"/>
            <a:ext cx="6296860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The Broken Last Mile in Food Security</a:t>
            </a:r>
            <a:endParaRPr lang="en-US" sz="29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3360" y="1405136"/>
            <a:ext cx="6296860" cy="1084659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79814" y="1575395"/>
            <a:ext cx="5880151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 The Blind Trip</a:t>
            </a:r>
            <a:endParaRPr lang="en-US" sz="1450" dirty="0"/>
          </a:p>
        </p:txBody>
      </p:sp>
      <p:sp>
        <p:nvSpPr>
          <p:cNvPr id="7" name="Text 3"/>
          <p:cNvSpPr/>
          <p:nvPr/>
        </p:nvSpPr>
        <p:spPr>
          <a:xfrm>
            <a:off x="5479814" y="1884164"/>
            <a:ext cx="5880151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People go to Fair Price Shops without knowing if their quota is in stock — wasted trips, wasted days.</a:t>
            </a:r>
            <a:endParaRPr lang="en-US" sz="11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52022" y="2610743"/>
            <a:ext cx="6296860" cy="1084659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479814" y="2781002"/>
            <a:ext cx="5880151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 Uneven Information</a:t>
            </a:r>
            <a:endParaRPr lang="en-US" sz="1450" dirty="0"/>
          </a:p>
        </p:txBody>
      </p:sp>
      <p:sp>
        <p:nvSpPr>
          <p:cNvPr id="10" name="Text 5"/>
          <p:cNvSpPr/>
          <p:nvPr/>
        </p:nvSpPr>
        <p:spPr>
          <a:xfrm>
            <a:off x="5479814" y="3089771"/>
            <a:ext cx="5880151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Only shopkeepers know when stock arrives. Older people and daily wage earners are the last to know — and the first to miss out.</a:t>
            </a:r>
            <a:endParaRPr lang="en-US" sz="11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3360" y="3816350"/>
            <a:ext cx="6296860" cy="1084659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5479814" y="3986609"/>
            <a:ext cx="5880151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 Delivery Losses</a:t>
            </a:r>
            <a:endParaRPr lang="en-US" sz="1450" dirty="0"/>
          </a:p>
        </p:txBody>
      </p:sp>
      <p:sp>
        <p:nvSpPr>
          <p:cNvPr id="13" name="Text 7"/>
          <p:cNvSpPr/>
          <p:nvPr/>
        </p:nvSpPr>
        <p:spPr>
          <a:xfrm>
            <a:off x="5479814" y="4295378"/>
            <a:ext cx="5880151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Deliveries face transit losses and weighbridge errors that dealers quietly absorb, creating hard-to-trace leakage.</a:t>
            </a:r>
            <a:endParaRPr lang="en-US" sz="115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3360" y="5021957"/>
            <a:ext cx="6296860" cy="1084659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5479814" y="5192216"/>
            <a:ext cx="5880151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 Separate Departments</a:t>
            </a:r>
            <a:endParaRPr lang="en-US" sz="1450" dirty="0"/>
          </a:p>
        </p:txBody>
      </p:sp>
      <p:sp>
        <p:nvSpPr>
          <p:cNvPr id="16" name="Text 9"/>
          <p:cNvSpPr/>
          <p:nvPr/>
        </p:nvSpPr>
        <p:spPr>
          <a:xfrm>
            <a:off x="5479814" y="5500985"/>
            <a:ext cx="5880151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Officers discover theft weeks later during manual audits — never in real time, always too late.</a:t>
            </a:r>
            <a:endParaRPr lang="en-US" sz="115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BE731C1-D230-6CDB-EF64-2E1E74A077FF}"/>
              </a:ext>
            </a:extLst>
          </p:cNvPr>
          <p:cNvSpPr/>
          <p:nvPr/>
        </p:nvSpPr>
        <p:spPr>
          <a:xfrm>
            <a:off x="11010123" y="6550090"/>
            <a:ext cx="1390261" cy="280095"/>
          </a:xfrm>
          <a:prstGeom prst="rect">
            <a:avLst/>
          </a:prstGeom>
          <a:solidFill>
            <a:srgbClr val="FFFC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4" name="3D Model 23" descr="Mobile phone">
                <a:extLst>
                  <a:ext uri="{FF2B5EF4-FFF2-40B4-BE49-F238E27FC236}">
                    <a16:creationId xmlns:a16="http://schemas.microsoft.com/office/drawing/2014/main" id="{966D61FF-5F5D-6983-0820-0605B94FEF68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272602392"/>
                  </p:ext>
                </p:extLst>
              </p:nvPr>
            </p:nvGraphicFramePr>
            <p:xfrm>
              <a:off x="1893379" y="2410718"/>
              <a:ext cx="1336219" cy="2727420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336219" cy="2727420"/>
                    </a:xfrm>
                    <a:prstGeom prst="rect">
                      <a:avLst/>
                    </a:prstGeom>
                  </am3d:spPr>
                  <am3d:camera>
                    <am3d:pos x="0" y="0" z="5250070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2307497" d="1000000"/>
                    <am3d:preTrans dx="-44610" dy="-17992235" dz="888902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320888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4" name="3D Model 23" descr="Mobile phone">
                <a:extLst>
                  <a:ext uri="{FF2B5EF4-FFF2-40B4-BE49-F238E27FC236}">
                    <a16:creationId xmlns:a16="http://schemas.microsoft.com/office/drawing/2014/main" id="{966D61FF-5F5D-6983-0820-0605B94FEF6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93379" y="2410718"/>
                <a:ext cx="1336219" cy="272742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Text 0"/>
          <p:cNvSpPr/>
          <p:nvPr/>
        </p:nvSpPr>
        <p:spPr>
          <a:xfrm>
            <a:off x="661475" y="601166"/>
            <a:ext cx="10868745" cy="502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The Unified Agentic Architecture</a:t>
            </a:r>
            <a:endParaRPr lang="en-US" sz="3150" dirty="0"/>
          </a:p>
        </p:txBody>
      </p:sp>
      <p:sp>
        <p:nvSpPr>
          <p:cNvPr id="4" name="Text 1"/>
          <p:cNvSpPr/>
          <p:nvPr/>
        </p:nvSpPr>
        <p:spPr>
          <a:xfrm>
            <a:off x="4608993" y="1444526"/>
            <a:ext cx="6927478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One Brain. Four Portals. No Guesswork.</a:t>
            </a:r>
            <a:endParaRPr lang="en-US" sz="1550" dirty="0"/>
          </a:p>
        </p:txBody>
      </p:sp>
      <p:sp>
        <p:nvSpPr>
          <p:cNvPr id="5" name="Shape 2"/>
          <p:cNvSpPr/>
          <p:nvPr/>
        </p:nvSpPr>
        <p:spPr>
          <a:xfrm>
            <a:off x="4608993" y="1849140"/>
            <a:ext cx="361445" cy="361454"/>
          </a:xfrm>
          <a:prstGeom prst="roundRect">
            <a:avLst>
              <a:gd name="adj" fmla="val 18669"/>
            </a:avLst>
          </a:prstGeom>
          <a:solidFill>
            <a:srgbClr val="EBE2E0"/>
          </a:solidFill>
          <a:ln w="6350">
            <a:solidFill>
              <a:srgbClr val="D1C8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669167" y="1879203"/>
            <a:ext cx="240996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1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5106959" y="1904305"/>
            <a:ext cx="6429512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 Single AI Agent Core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5106959" y="2291854"/>
            <a:ext cx="6429512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One shared brain runs 12 role-based tools with strict access control for every group.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608993" y="2802632"/>
            <a:ext cx="361445" cy="361454"/>
          </a:xfrm>
          <a:prstGeom prst="roundRect">
            <a:avLst>
              <a:gd name="adj" fmla="val 18669"/>
            </a:avLst>
          </a:prstGeom>
          <a:solidFill>
            <a:srgbClr val="EBE2E0"/>
          </a:solidFill>
          <a:ln w="6350">
            <a:solidFill>
              <a:srgbClr val="D1C8C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669167" y="2832695"/>
            <a:ext cx="240996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2</a:t>
            </a:r>
            <a:endParaRPr lang="en-US" sz="1850" dirty="0"/>
          </a:p>
        </p:txBody>
      </p:sp>
      <p:sp>
        <p:nvSpPr>
          <p:cNvPr id="11" name="Text 8"/>
          <p:cNvSpPr/>
          <p:nvPr/>
        </p:nvSpPr>
        <p:spPr>
          <a:xfrm>
            <a:off x="5106959" y="2857798"/>
            <a:ext cx="6429512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 4 Seamless Portals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5106959" y="3245346"/>
            <a:ext cx="6429512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Citizen, ration dealer, taluk supplier, and government — all connected to one shared ledger.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08993" y="3993852"/>
            <a:ext cx="361445" cy="361454"/>
          </a:xfrm>
          <a:prstGeom prst="roundRect">
            <a:avLst>
              <a:gd name="adj" fmla="val 18669"/>
            </a:avLst>
          </a:prstGeom>
          <a:solidFill>
            <a:srgbClr val="EBE2E0"/>
          </a:solidFill>
          <a:ln w="6350">
            <a:solidFill>
              <a:srgbClr val="D1C8C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669167" y="4023916"/>
            <a:ext cx="240996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3</a:t>
            </a:r>
            <a:endParaRPr lang="en-US" sz="1850" dirty="0"/>
          </a:p>
        </p:txBody>
      </p:sp>
      <p:sp>
        <p:nvSpPr>
          <p:cNvPr id="15" name="Text 12"/>
          <p:cNvSpPr/>
          <p:nvPr/>
        </p:nvSpPr>
        <p:spPr>
          <a:xfrm>
            <a:off x="5106959" y="4049018"/>
            <a:ext cx="6429512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 Live Ground-Truth Feeding</a:t>
            </a:r>
            <a:endParaRPr lang="en-US" sz="1550" dirty="0"/>
          </a:p>
        </p:txBody>
      </p:sp>
      <p:sp>
        <p:nvSpPr>
          <p:cNvPr id="16" name="Text 13"/>
          <p:cNvSpPr/>
          <p:nvPr/>
        </p:nvSpPr>
        <p:spPr>
          <a:xfrm>
            <a:off x="5106959" y="4436566"/>
            <a:ext cx="6429512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Every AI query is filled with exact database facts — no guessing, always based on real data.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4608993" y="5185073"/>
            <a:ext cx="361445" cy="361454"/>
          </a:xfrm>
          <a:prstGeom prst="roundRect">
            <a:avLst>
              <a:gd name="adj" fmla="val 18669"/>
            </a:avLst>
          </a:prstGeom>
          <a:solidFill>
            <a:srgbClr val="EBE2E0"/>
          </a:solidFill>
          <a:ln w="6350">
            <a:solidFill>
              <a:srgbClr val="D1C8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669167" y="5215136"/>
            <a:ext cx="240996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4</a:t>
            </a:r>
            <a:endParaRPr lang="en-US" sz="1850" dirty="0"/>
          </a:p>
        </p:txBody>
      </p:sp>
      <p:sp>
        <p:nvSpPr>
          <p:cNvPr id="19" name="Text 16"/>
          <p:cNvSpPr/>
          <p:nvPr/>
        </p:nvSpPr>
        <p:spPr>
          <a:xfrm>
            <a:off x="5106959" y="5240238"/>
            <a:ext cx="6429512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 Multi-Signal Trust Check</a:t>
            </a:r>
            <a:endParaRPr lang="en-US" sz="1550" dirty="0"/>
          </a:p>
        </p:txBody>
      </p:sp>
      <p:sp>
        <p:nvSpPr>
          <p:cNvPr id="20" name="Text 17"/>
          <p:cNvSpPr/>
          <p:nvPr/>
        </p:nvSpPr>
        <p:spPr>
          <a:xfrm>
            <a:off x="5106959" y="5627787"/>
            <a:ext cx="6429512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Scale checks, citizen confirmation, and transaction speed checks help spot unusual cases for review.</a:t>
            </a:r>
            <a:endParaRPr lang="en-US" sz="12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BA84581-E099-A4DC-6344-36E3A05B9C71}"/>
              </a:ext>
            </a:extLst>
          </p:cNvPr>
          <p:cNvSpPr/>
          <p:nvPr/>
        </p:nvSpPr>
        <p:spPr>
          <a:xfrm>
            <a:off x="11000792" y="6550090"/>
            <a:ext cx="1390261" cy="280095"/>
          </a:xfrm>
          <a:prstGeom prst="rect">
            <a:avLst/>
          </a:prstGeom>
          <a:solidFill>
            <a:srgbClr val="FFFC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aphicFrame>
        <p:nvGraphicFramePr>
          <p:cNvPr id="26" name="Diagram 25">
            <a:extLst>
              <a:ext uri="{FF2B5EF4-FFF2-40B4-BE49-F238E27FC236}">
                <a16:creationId xmlns:a16="http://schemas.microsoft.com/office/drawing/2014/main" id="{AA1D6B79-FB0A-6B80-4E7C-2563C6C94E5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31455180"/>
              </p:ext>
            </p:extLst>
          </p:nvPr>
        </p:nvGraphicFramePr>
        <p:xfrm>
          <a:off x="1386601" y="2759584"/>
          <a:ext cx="2369133" cy="19255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77366"/>
            <a:ext cx="10868745" cy="502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The Citizen Portal: Easy to Use, With Respect for Every User</a:t>
            </a:r>
            <a:endParaRPr lang="en-US" sz="31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96382" y="1537791"/>
            <a:ext cx="321262" cy="32127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988296" y="1592957"/>
            <a:ext cx="2942755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Easy Sign-In</a:t>
            </a:r>
            <a:endParaRPr lang="en-US" sz="1550" dirty="0"/>
          </a:p>
        </p:txBody>
      </p:sp>
      <p:sp>
        <p:nvSpPr>
          <p:cNvPr id="6" name="Text 2"/>
          <p:cNvSpPr/>
          <p:nvPr/>
        </p:nvSpPr>
        <p:spPr>
          <a:xfrm>
            <a:off x="4988296" y="1980505"/>
            <a:ext cx="2942755" cy="950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Sign in with your 10-digit ration card ID and an OTP. Supports Yellow AAY, Pink PHH, Blue Non-Priority, and White General groups.</a:t>
            </a:r>
            <a:endParaRPr lang="en-US" sz="12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101703" y="1537791"/>
            <a:ext cx="321262" cy="32127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8593617" y="1592957"/>
            <a:ext cx="2942854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Live Stock Status</a:t>
            </a:r>
            <a:endParaRPr lang="en-US" sz="1550" dirty="0"/>
          </a:p>
        </p:txBody>
      </p:sp>
      <p:sp>
        <p:nvSpPr>
          <p:cNvPr id="9" name="Text 4"/>
          <p:cNvSpPr/>
          <p:nvPr/>
        </p:nvSpPr>
        <p:spPr>
          <a:xfrm>
            <a:off x="8593617" y="1980505"/>
            <a:ext cx="2942854" cy="713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See live updates for boiled rice, raw rice, wheat, sugar, and kerosene, with distance markers to your nearest FPS.</a:t>
            </a:r>
            <a:endParaRPr lang="en-US" sz="12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96382" y="3204468"/>
            <a:ext cx="321262" cy="32127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4988296" y="3259634"/>
            <a:ext cx="2942755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'Notify Me' Stock Alert</a:t>
            </a:r>
            <a:endParaRPr lang="en-US" sz="1550" dirty="0"/>
          </a:p>
        </p:txBody>
      </p:sp>
      <p:sp>
        <p:nvSpPr>
          <p:cNvPr id="12" name="Text 6"/>
          <p:cNvSpPr/>
          <p:nvPr/>
        </p:nvSpPr>
        <p:spPr>
          <a:xfrm>
            <a:off x="4988296" y="3647182"/>
            <a:ext cx="2942755" cy="713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Automatic SMS alerts the moment out-of-stock items reach your shop. No more guesswork, no wasted trips.</a:t>
            </a:r>
            <a:endParaRPr lang="en-US" sz="125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01703" y="3204468"/>
            <a:ext cx="321262" cy="32127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8593617" y="3259634"/>
            <a:ext cx="2942854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Family Alerts Together</a:t>
            </a:r>
            <a:endParaRPr lang="en-US" sz="1550" dirty="0"/>
          </a:p>
        </p:txBody>
      </p:sp>
      <p:sp>
        <p:nvSpPr>
          <p:cNvPr id="15" name="Text 8"/>
          <p:cNvSpPr/>
          <p:nvPr/>
        </p:nvSpPr>
        <p:spPr>
          <a:xfrm>
            <a:off x="8593617" y="3647182"/>
            <a:ext cx="2942854" cy="950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All registered family members get alerts at the same time, helping prevent fraud, fake claims, and duplicate claims.</a:t>
            </a:r>
            <a:endParaRPr lang="en-US" sz="1250" dirty="0"/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496382" y="4871145"/>
            <a:ext cx="321262" cy="321270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4988296" y="4926310"/>
            <a:ext cx="2942755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Malayalam and English</a:t>
            </a:r>
            <a:endParaRPr lang="en-US" sz="1550" dirty="0"/>
          </a:p>
        </p:txBody>
      </p:sp>
      <p:sp>
        <p:nvSpPr>
          <p:cNvPr id="18" name="Text 10"/>
          <p:cNvSpPr/>
          <p:nvPr/>
        </p:nvSpPr>
        <p:spPr>
          <a:xfrm>
            <a:off x="4988296" y="5313859"/>
            <a:ext cx="2942755" cy="713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Full bilingual support makes the portal easy to use for seniors and people who do not speak English across Kerala.</a:t>
            </a:r>
            <a:endParaRPr lang="en-US" sz="125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5684AB-1952-2DEF-4A61-FA4E69171535}"/>
              </a:ext>
            </a:extLst>
          </p:cNvPr>
          <p:cNvSpPr/>
          <p:nvPr/>
        </p:nvSpPr>
        <p:spPr>
          <a:xfrm>
            <a:off x="11000792" y="6550090"/>
            <a:ext cx="1390261" cy="280095"/>
          </a:xfrm>
          <a:prstGeom prst="rect">
            <a:avLst/>
          </a:prstGeom>
          <a:solidFill>
            <a:srgbClr val="FFFC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4" name="3D Model 23" descr="Mobile phone">
                <a:extLst>
                  <a:ext uri="{FF2B5EF4-FFF2-40B4-BE49-F238E27FC236}">
                    <a16:creationId xmlns:a16="http://schemas.microsoft.com/office/drawing/2014/main" id="{7A2A581D-B644-AD0C-9B18-A1D7992DA898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969941682"/>
                  </p:ext>
                </p:extLst>
              </p:nvPr>
            </p:nvGraphicFramePr>
            <p:xfrm>
              <a:off x="708603" y="2321818"/>
              <a:ext cx="1423606" cy="3388132"/>
            </p:xfrm>
            <a:graphic>
              <a:graphicData uri="http://schemas.microsoft.com/office/drawing/2017/model3d">
                <am3d:model3d r:embed="rId8">
                  <am3d:spPr>
                    <a:xfrm>
                      <a:off x="0" y="0"/>
                      <a:ext cx="1423606" cy="3388132"/>
                    </a:xfrm>
                    <a:prstGeom prst="rect">
                      <a:avLst/>
                    </a:prstGeom>
                  </am3d:spPr>
                  <am3d:camera>
                    <am3d:pos x="0" y="0" z="5250070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2307497" d="1000000"/>
                    <am3d:preTrans dx="-44610" dy="-17992235" dz="888902"/>
                    <am3d:scale>
                      <am3d:sx n="1000000" d="1000000"/>
                      <am3d:sy n="1000000" d="1000000"/>
                      <am3d:sz n="1000000" d="1000000"/>
                    </am3d:scale>
                    <am3d:rot ax="692924" ay="2396221" az="448378"/>
                    <am3d:postTrans dx="0" dy="0" dz="0"/>
                  </am3d:trans>
                  <am3d:raster rName="Office3DRenderer" rVer="16.0.8326">
                    <am3d:blip r:embed="rId9"/>
                  </am3d:raster>
                  <am3d:objViewport viewportSz="360718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4" name="3D Model 23" descr="Mobile phone">
                <a:extLst>
                  <a:ext uri="{FF2B5EF4-FFF2-40B4-BE49-F238E27FC236}">
                    <a16:creationId xmlns:a16="http://schemas.microsoft.com/office/drawing/2014/main" id="{7A2A581D-B644-AD0C-9B18-A1D7992DA89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08603" y="2321818"/>
                <a:ext cx="1423606" cy="3388132"/>
              </a:xfrm>
              <a:prstGeom prst="rect">
                <a:avLst/>
              </a:prstGeom>
            </p:spPr>
          </p:pic>
        </mc:Fallback>
      </mc:AlternateContent>
      <p:graphicFrame>
        <p:nvGraphicFramePr>
          <p:cNvPr id="26" name="Diagram 25">
            <a:extLst>
              <a:ext uri="{FF2B5EF4-FFF2-40B4-BE49-F238E27FC236}">
                <a16:creationId xmlns:a16="http://schemas.microsoft.com/office/drawing/2014/main" id="{ED21CA96-B5A2-CA3C-4EBE-A6CDF5462E5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46330491"/>
              </p:ext>
            </p:extLst>
          </p:nvPr>
        </p:nvGraphicFramePr>
        <p:xfrm>
          <a:off x="1196681" y="3172445"/>
          <a:ext cx="2533622" cy="163219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0" r:lo="rId11" r:qs="rId12" r:cs="rId13"/>
          </a:graphicData>
        </a:graphic>
      </p:graphicFrame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66142"/>
            <a:ext cx="10868745" cy="4942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Fair Price Shop Ledger &amp; Supply Check</a:t>
            </a:r>
            <a:endParaRPr lang="en-US" sz="3100" dirty="0"/>
          </a:p>
        </p:txBody>
      </p:sp>
      <p:sp>
        <p:nvSpPr>
          <p:cNvPr id="4" name="Text 1"/>
          <p:cNvSpPr/>
          <p:nvPr/>
        </p:nvSpPr>
        <p:spPr>
          <a:xfrm>
            <a:off x="4606810" y="1391047"/>
            <a:ext cx="6929661" cy="2471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Dealer Tools Built for Real-World Use</a:t>
            </a:r>
            <a:endParaRPr lang="en-US" sz="15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06810" y="1787029"/>
            <a:ext cx="3398653" cy="2111871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187523" y="1891903"/>
            <a:ext cx="237226" cy="2964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1</a:t>
            </a:r>
            <a:endParaRPr lang="en-US" sz="1850" dirty="0"/>
          </a:p>
        </p:txBody>
      </p:sp>
      <p:sp>
        <p:nvSpPr>
          <p:cNvPr id="7" name="Text 3"/>
          <p:cNvSpPr/>
          <p:nvPr/>
        </p:nvSpPr>
        <p:spPr>
          <a:xfrm>
            <a:off x="4784010" y="2412802"/>
            <a:ext cx="3044253" cy="2471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Delivery Check</a:t>
            </a:r>
            <a:endParaRPr lang="en-US" sz="1550" dirty="0"/>
          </a:p>
        </p:txBody>
      </p:sp>
      <p:sp>
        <p:nvSpPr>
          <p:cNvPr id="8" name="Text 4"/>
          <p:cNvSpPr/>
          <p:nvPr/>
        </p:nvSpPr>
        <p:spPr>
          <a:xfrm>
            <a:off x="4784010" y="2792214"/>
            <a:ext cx="3044253" cy="697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0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Compare the sent weight with the received scale weight and flag any loss right away.</a:t>
            </a:r>
            <a:endParaRPr lang="en-US" sz="12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37718" y="1787029"/>
            <a:ext cx="3398752" cy="2111871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718432" y="1891903"/>
            <a:ext cx="237226" cy="2964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2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8314919" y="2412802"/>
            <a:ext cx="3044352" cy="2471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Three Trust Signals</a:t>
            </a:r>
            <a:endParaRPr lang="en-US" sz="1550" dirty="0"/>
          </a:p>
        </p:txBody>
      </p:sp>
      <p:sp>
        <p:nvSpPr>
          <p:cNvPr id="12" name="Text 7"/>
          <p:cNvSpPr/>
          <p:nvPr/>
        </p:nvSpPr>
        <p:spPr>
          <a:xfrm>
            <a:off x="8314919" y="2792214"/>
            <a:ext cx="3044352" cy="9294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443728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S1</a:t>
            </a:r>
            <a:r>
              <a:rPr lang="en-US" sz="120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weight difference · </a:t>
            </a:r>
            <a:r>
              <a:rPr lang="en-US" sz="1200" b="1" dirty="0">
                <a:solidFill>
                  <a:srgbClr val="443728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S2</a:t>
            </a:r>
            <a:r>
              <a:rPr lang="en-US" sz="120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citizen confirmation rate · </a:t>
            </a:r>
            <a:r>
              <a:rPr lang="en-US" sz="1200" b="1" dirty="0">
                <a:solidFill>
                  <a:srgbClr val="443728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S3</a:t>
            </a:r>
            <a:r>
              <a:rPr lang="en-US" sz="120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transaction speed checks — combined into one clear trust score.</a:t>
            </a:r>
            <a:endParaRPr lang="en-US" sz="12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06810" y="4031159"/>
            <a:ext cx="3398653" cy="2111871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187523" y="4136033"/>
            <a:ext cx="237226" cy="2964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3</a:t>
            </a:r>
            <a:endParaRPr lang="en-US" sz="1850" dirty="0"/>
          </a:p>
        </p:txBody>
      </p:sp>
      <p:sp>
        <p:nvSpPr>
          <p:cNvPr id="15" name="Text 9"/>
          <p:cNvSpPr/>
          <p:nvPr/>
        </p:nvSpPr>
        <p:spPr>
          <a:xfrm>
            <a:off x="4784010" y="4656931"/>
            <a:ext cx="3044253" cy="2471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Live e-POS Simulator</a:t>
            </a:r>
            <a:endParaRPr lang="en-US" sz="1550" dirty="0"/>
          </a:p>
        </p:txBody>
      </p:sp>
      <p:sp>
        <p:nvSpPr>
          <p:cNvPr id="16" name="Text 10"/>
          <p:cNvSpPr/>
          <p:nvPr/>
        </p:nvSpPr>
        <p:spPr>
          <a:xfrm>
            <a:off x="4784010" y="5036344"/>
            <a:ext cx="3044253" cy="9294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0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Record sales against specific ration cards with automatic quota deduction and balance updates — live, accurate, and easy to check.</a:t>
            </a:r>
            <a:endParaRPr lang="en-US" sz="120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37718" y="4031159"/>
            <a:ext cx="3398752" cy="2111871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9718432" y="4136033"/>
            <a:ext cx="237226" cy="2964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4</a:t>
            </a:r>
            <a:endParaRPr lang="en-US" sz="1850" dirty="0"/>
          </a:p>
        </p:txBody>
      </p:sp>
      <p:sp>
        <p:nvSpPr>
          <p:cNvPr id="19" name="Text 12"/>
          <p:cNvSpPr/>
          <p:nvPr/>
        </p:nvSpPr>
        <p:spPr>
          <a:xfrm>
            <a:off x="8314919" y="4656931"/>
            <a:ext cx="3044352" cy="2471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Works Without Internet</a:t>
            </a:r>
            <a:endParaRPr lang="en-US" sz="1550" dirty="0"/>
          </a:p>
        </p:txBody>
      </p:sp>
      <p:sp>
        <p:nvSpPr>
          <p:cNvPr id="20" name="Text 13"/>
          <p:cNvSpPr/>
          <p:nvPr/>
        </p:nvSpPr>
        <p:spPr>
          <a:xfrm>
            <a:off x="8314919" y="5036344"/>
            <a:ext cx="3044352" cy="697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0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Upload monthly stock sheets using Excel or CSV when the internet is weak — no data is lost.</a:t>
            </a:r>
            <a:endParaRPr lang="en-US" sz="120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B5D47E9-0838-9B97-BE58-B261EADD73A1}"/>
              </a:ext>
            </a:extLst>
          </p:cNvPr>
          <p:cNvSpPr/>
          <p:nvPr/>
        </p:nvSpPr>
        <p:spPr>
          <a:xfrm>
            <a:off x="11000792" y="6550090"/>
            <a:ext cx="1390261" cy="280095"/>
          </a:xfrm>
          <a:prstGeom prst="rect">
            <a:avLst/>
          </a:prstGeom>
          <a:solidFill>
            <a:srgbClr val="FFFC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5" name="3D Model 24" descr="Commercial Truck">
                <a:extLst>
                  <a:ext uri="{FF2B5EF4-FFF2-40B4-BE49-F238E27FC236}">
                    <a16:creationId xmlns:a16="http://schemas.microsoft.com/office/drawing/2014/main" id="{620870DF-F53F-DF51-16BA-A61C7912F0A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432082682"/>
                  </p:ext>
                </p:extLst>
              </p:nvPr>
            </p:nvGraphicFramePr>
            <p:xfrm>
              <a:off x="174498" y="2167281"/>
              <a:ext cx="4520912" cy="2845795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4520912" cy="2845795"/>
                    </a:xfrm>
                    <a:prstGeom prst="rect">
                      <a:avLst/>
                    </a:prstGeom>
                  </am3d:spPr>
                  <am3d:camera>
                    <am3d:pos x="0" y="0" z="5375794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95064" d="1000000"/>
                    <am3d:preTrans dx="0" dy="-7601456" dz="2"/>
                    <am3d:scale>
                      <am3d:sx n="1000000" d="1000000"/>
                      <am3d:sy n="1000000" d="1000000"/>
                      <am3d:sz n="1000000" d="1000000"/>
                    </am3d:scale>
                    <am3d:rot ax="515970" ay="-2753630" az="-371844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530136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5" name="3D Model 24" descr="Commercial Truck">
                <a:extLst>
                  <a:ext uri="{FF2B5EF4-FFF2-40B4-BE49-F238E27FC236}">
                    <a16:creationId xmlns:a16="http://schemas.microsoft.com/office/drawing/2014/main" id="{620870DF-F53F-DF51-16BA-A61C7912F0A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74498" y="2167281"/>
                <a:ext cx="4520912" cy="284579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" name="3D Model 2" descr="Commercial Truck">
                <a:extLst>
                  <a:ext uri="{FF2B5EF4-FFF2-40B4-BE49-F238E27FC236}">
                    <a16:creationId xmlns:a16="http://schemas.microsoft.com/office/drawing/2014/main" id="{58CFA7A5-9F56-9978-3FC7-B0B27F5533F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432082682"/>
                  </p:ext>
                </p:extLst>
              </p:nvPr>
            </p:nvGraphicFramePr>
            <p:xfrm>
              <a:off x="174498" y="2190549"/>
              <a:ext cx="4520912" cy="2845795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4520912" cy="2845795"/>
                    </a:xfrm>
                    <a:prstGeom prst="rect">
                      <a:avLst/>
                    </a:prstGeom>
                  </am3d:spPr>
                  <am3d:camera>
                    <am3d:pos x="0" y="0" z="5375794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95064" d="1000000"/>
                    <am3d:preTrans dx="0" dy="-7601456" dz="2"/>
                    <am3d:scale>
                      <am3d:sx n="1000000" d="1000000"/>
                      <am3d:sy n="1000000" d="1000000"/>
                      <am3d:sz n="1000000" d="1000000"/>
                    </am3d:scale>
                    <am3d:rot ax="515970" ay="-2753630" az="-371844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530136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" name="3D Model 2" descr="Commercial Truck">
                <a:extLst>
                  <a:ext uri="{FF2B5EF4-FFF2-40B4-BE49-F238E27FC236}">
                    <a16:creationId xmlns:a16="http://schemas.microsoft.com/office/drawing/2014/main" id="{58CFA7A5-9F56-9978-3FC7-B0B27F5533F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74498" y="2190549"/>
                <a:ext cx="4520912" cy="2845795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57609"/>
            <a:ext cx="10868745" cy="383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End-to-End Grain Movement</a:t>
            </a:r>
            <a:endParaRPr lang="en-US" sz="24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3550" y="1101229"/>
            <a:ext cx="7064595" cy="310118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762020" y="3172561"/>
            <a:ext cx="1238333" cy="382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Government Allocation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762020" y="3609730"/>
            <a:ext cx="1238333" cy="2526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86000"/>
              </a:lnSpc>
              <a:buNone/>
            </a:pPr>
            <a:r>
              <a:rPr lang="en-US" sz="9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Issue shipment and waybill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7238877" y="3316299"/>
            <a:ext cx="1238333" cy="1913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FPS Receipt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38877" y="3562101"/>
            <a:ext cx="1238333" cy="2526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86000"/>
              </a:lnSpc>
              <a:buNone/>
            </a:pPr>
            <a:r>
              <a:rPr lang="en-US" sz="9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Weighbridge check and sign-off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510655" y="1426434"/>
            <a:ext cx="1238333" cy="1913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Supplier Dispatch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510655" y="1672236"/>
            <a:ext cx="1238333" cy="2526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86000"/>
              </a:lnSpc>
              <a:buNone/>
            </a:pPr>
            <a:r>
              <a:rPr lang="en-US" sz="9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Truck, driver, waybill tracking</a:t>
            </a:r>
            <a:endParaRPr lang="en-US" sz="95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475" y="4292203"/>
            <a:ext cx="3622882" cy="49143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84305" y="4863405"/>
            <a:ext cx="3377223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Government Allocation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784305" y="5103217"/>
            <a:ext cx="3377223" cy="162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Issue shipment and waybill</a:t>
            </a:r>
            <a:endParaRPr lang="en-US" sz="95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4357" y="4292203"/>
            <a:ext cx="3622882" cy="49143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407187" y="4863405"/>
            <a:ext cx="3377223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Supplier Dispatch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4407187" y="5103217"/>
            <a:ext cx="3377223" cy="162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Truck, driver, waybill tracking</a:t>
            </a:r>
            <a:endParaRPr lang="en-US" sz="95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7239" y="4292203"/>
            <a:ext cx="3622882" cy="49143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030069" y="4863405"/>
            <a:ext cx="3377223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FPS Receipt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8030069" y="5103217"/>
            <a:ext cx="3377223" cy="162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Weighbridge check and sign-off</a:t>
            </a:r>
            <a:endParaRPr lang="en-US" sz="950" dirty="0"/>
          </a:p>
        </p:txBody>
      </p:sp>
      <p:sp>
        <p:nvSpPr>
          <p:cNvPr id="19" name="Shape 13"/>
          <p:cNvSpPr/>
          <p:nvPr/>
        </p:nvSpPr>
        <p:spPr>
          <a:xfrm>
            <a:off x="661475" y="5477966"/>
            <a:ext cx="3569702" cy="822424"/>
          </a:xfrm>
          <a:prstGeom prst="roundRect">
            <a:avLst>
              <a:gd name="adj" fmla="val 6274"/>
            </a:avLst>
          </a:prstGeom>
          <a:solidFill>
            <a:srgbClr val="EBE2E0"/>
          </a:solidFill>
          <a:ln w="6350">
            <a:solidFill>
              <a:srgbClr val="D1C8C6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790654" y="5607149"/>
            <a:ext cx="3311343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 Shipment Tracking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790654" y="5846961"/>
            <a:ext cx="3311343" cy="3242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Record vehicle number, driver contact, waybill ID, and net weight at every handoff.</a:t>
            </a:r>
            <a:endParaRPr lang="en-US" sz="950" dirty="0"/>
          </a:p>
        </p:txBody>
      </p:sp>
      <p:sp>
        <p:nvSpPr>
          <p:cNvPr id="22" name="Shape 16"/>
          <p:cNvSpPr/>
          <p:nvPr/>
        </p:nvSpPr>
        <p:spPr>
          <a:xfrm>
            <a:off x="4310947" y="5477966"/>
            <a:ext cx="3569702" cy="822424"/>
          </a:xfrm>
          <a:prstGeom prst="roundRect">
            <a:avLst>
              <a:gd name="adj" fmla="val 6274"/>
            </a:avLst>
          </a:prstGeom>
          <a:solidFill>
            <a:srgbClr val="EBE2E0"/>
          </a:solidFill>
          <a:ln w="6350">
            <a:solidFill>
              <a:srgbClr val="D1C8C6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4440126" y="5607149"/>
            <a:ext cx="3311343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 Weighbridge Check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4440126" y="5846961"/>
            <a:ext cx="3311343" cy="3242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Spot losses between state dispatch and taluk weighing — every kilogram accounted for.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7960419" y="5477966"/>
            <a:ext cx="3569801" cy="822424"/>
          </a:xfrm>
          <a:prstGeom prst="roundRect">
            <a:avLst>
              <a:gd name="adj" fmla="val 6274"/>
            </a:avLst>
          </a:prstGeom>
          <a:solidFill>
            <a:srgbClr val="EBE2E0"/>
          </a:solidFill>
          <a:ln w="6350">
            <a:solidFill>
              <a:srgbClr val="D1C8C6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8089598" y="5607149"/>
            <a:ext cx="3311442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 Two-Person Approval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8089598" y="5846961"/>
            <a:ext cx="3311442" cy="3242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Two officers must approve any unusual delivery or quota change — no single-person override.</a:t>
            </a:r>
            <a:endParaRPr lang="en-US" sz="95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CB08C2D-02CE-8934-F9E5-6408541BCBC4}"/>
              </a:ext>
            </a:extLst>
          </p:cNvPr>
          <p:cNvSpPr/>
          <p:nvPr/>
        </p:nvSpPr>
        <p:spPr>
          <a:xfrm>
            <a:off x="11000792" y="6550090"/>
            <a:ext cx="1390261" cy="280095"/>
          </a:xfrm>
          <a:prstGeom prst="rect">
            <a:avLst/>
          </a:prstGeom>
          <a:solidFill>
            <a:srgbClr val="FFFC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0" name="3D Model 29" descr="Commercial Truck">
                <a:extLst>
                  <a:ext uri="{FF2B5EF4-FFF2-40B4-BE49-F238E27FC236}">
                    <a16:creationId xmlns:a16="http://schemas.microsoft.com/office/drawing/2014/main" id="{DC2BA0EA-2F37-806B-FB69-8804F72972B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168317747"/>
                  </p:ext>
                </p:extLst>
              </p:nvPr>
            </p:nvGraphicFramePr>
            <p:xfrm>
              <a:off x="5746008" y="4331593"/>
              <a:ext cx="699579" cy="321172"/>
            </p:xfrm>
            <a:graphic>
              <a:graphicData uri="http://schemas.microsoft.com/office/drawing/2017/model3d">
                <am3d:model3d r:embed="rId7">
                  <am3d:spPr>
                    <a:xfrm>
                      <a:off x="0" y="0"/>
                      <a:ext cx="699579" cy="321172"/>
                    </a:xfrm>
                    <a:prstGeom prst="rect">
                      <a:avLst/>
                    </a:prstGeom>
                  </am3d:spPr>
                  <am3d:camera>
                    <am3d:pos x="0" y="0" z="5375794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95064" d="1000000"/>
                    <am3d:preTrans dx="0" dy="-7601456" dz="2"/>
                    <am3d:scale>
                      <am3d:sx n="1000000" d="1000000"/>
                      <am3d:sy n="1000000" d="1000000"/>
                      <am3d:sz n="1000000" d="1000000"/>
                    </am3d:scale>
                    <am3d:rot ax="1674043" ay="4990715" az="1663964"/>
                    <am3d:postTrans dx="0" dy="0" dz="0"/>
                  </am3d:trans>
                  <am3d:raster rName="Office3DRenderer" rVer="16.0.8326">
                    <am3d:blip r:embed="rId8"/>
                  </am3d:raster>
                  <am3d:objViewport viewportSz="75809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0" name="3D Model 29" descr="Commercial Truck">
                <a:extLst>
                  <a:ext uri="{FF2B5EF4-FFF2-40B4-BE49-F238E27FC236}">
                    <a16:creationId xmlns:a16="http://schemas.microsoft.com/office/drawing/2014/main" id="{DC2BA0EA-2F37-806B-FB69-8804F72972B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746008" y="4331593"/>
                <a:ext cx="699579" cy="321172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EBE2E0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0075" y="488057"/>
            <a:ext cx="4411254" cy="588188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558998"/>
            <a:ext cx="6296860" cy="1004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Pluggable AI Gateway &amp; Data Sovereignty</a:t>
            </a:r>
            <a:endParaRPr lang="en-US" sz="3150" dirty="0"/>
          </a:p>
        </p:txBody>
      </p:sp>
      <p:sp>
        <p:nvSpPr>
          <p:cNvPr id="5" name="Shape 2"/>
          <p:cNvSpPr/>
          <p:nvPr/>
        </p:nvSpPr>
        <p:spPr>
          <a:xfrm>
            <a:off x="661475" y="1767880"/>
            <a:ext cx="6296860" cy="4531122"/>
          </a:xfrm>
          <a:prstGeom prst="roundRect">
            <a:avLst>
              <a:gd name="adj" fmla="val 1489"/>
            </a:avLst>
          </a:prstGeom>
          <a:solidFill>
            <a:srgbClr val="EBE2E0"/>
          </a:solidFill>
          <a:ln w="6350">
            <a:solidFill>
              <a:srgbClr val="D1C8C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67825" y="1774230"/>
            <a:ext cx="6284160" cy="1129605"/>
          </a:xfrm>
          <a:custGeom>
            <a:avLst/>
            <a:gdLst/>
            <a:ahLst/>
            <a:cxnLst/>
            <a:rect l="l" t="t" r="r" b="b"/>
            <a:pathLst>
              <a:path w="6284160" h="1129605">
                <a:moveTo>
                  <a:pt x="56233" y="0"/>
                </a:moveTo>
                <a:lnTo>
                  <a:pt x="6227927" y="0"/>
                </a:lnTo>
                <a:arcTo wR="56233" hR="56234" stAng="16200000" swAng="5400000"/>
                <a:lnTo>
                  <a:pt x="6284160" y="1129605"/>
                </a:lnTo>
                <a:lnTo>
                  <a:pt x="0" y="1129605"/>
                </a:lnTo>
                <a:lnTo>
                  <a:pt x="0" y="56234"/>
                </a:lnTo>
                <a:arcTo wR="56233" hR="56234" stAng="10800000" swAng="5400000"/>
                <a:close/>
              </a:path>
            </a:pathLst>
          </a:custGeom>
          <a:solidFill>
            <a:srgbClr val="EBE2E0"/>
          </a:solidFill>
          <a:ln/>
        </p:spPr>
      </p:sp>
      <p:sp>
        <p:nvSpPr>
          <p:cNvPr id="7" name="Text 4"/>
          <p:cNvSpPr/>
          <p:nvPr/>
        </p:nvSpPr>
        <p:spPr>
          <a:xfrm>
            <a:off x="828456" y="1934865"/>
            <a:ext cx="5962898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 Data Stays in State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28456" y="2267744"/>
            <a:ext cx="5962898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Sensitive PDS beneficiary data and biometric logs </a:t>
            </a:r>
            <a:r>
              <a:rPr lang="en-US" sz="1250" b="1" dirty="0">
                <a:solidFill>
                  <a:srgbClr val="443728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never leave state borders</a:t>
            </a:r>
            <a:r>
              <a:rPr lang="en-US" sz="12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 Kerala's citizens, Kerala's data.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67825" y="2903835"/>
            <a:ext cx="6284160" cy="1129605"/>
          </a:xfrm>
          <a:prstGeom prst="rect">
            <a:avLst/>
          </a:prstGeom>
          <a:solidFill>
            <a:srgbClr val="EBE2E0"/>
          </a:solidFill>
          <a:ln/>
        </p:spPr>
      </p:sp>
      <p:sp>
        <p:nvSpPr>
          <p:cNvPr id="10" name="Shape 7"/>
          <p:cNvSpPr/>
          <p:nvPr/>
        </p:nvSpPr>
        <p:spPr>
          <a:xfrm>
            <a:off x="667825" y="2903835"/>
            <a:ext cx="6284160" cy="19050"/>
          </a:xfrm>
          <a:prstGeom prst="roundRect">
            <a:avLst>
              <a:gd name="adj" fmla="val 49999"/>
            </a:avLst>
          </a:prstGeom>
          <a:solidFill>
            <a:srgbClr val="D1C8C6"/>
          </a:solidFill>
          <a:ln/>
        </p:spPr>
      </p:sp>
      <p:sp>
        <p:nvSpPr>
          <p:cNvPr id="11" name="Text 8"/>
          <p:cNvSpPr/>
          <p:nvPr/>
        </p:nvSpPr>
        <p:spPr>
          <a:xfrm>
            <a:off x="828456" y="3064470"/>
            <a:ext cx="5962898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 Kerala Sovereign Indic LLM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828456" y="3397349"/>
            <a:ext cx="5962898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Direct link to state-hosted local AI on edge servers, using Ollama / vLLM / C-DAC Malayalam models — fully on-premise.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67825" y="4033441"/>
            <a:ext cx="6284160" cy="1129605"/>
          </a:xfrm>
          <a:prstGeom prst="rect">
            <a:avLst/>
          </a:prstGeom>
          <a:solidFill>
            <a:srgbClr val="EBE2E0"/>
          </a:solidFill>
          <a:ln/>
        </p:spPr>
      </p:sp>
      <p:sp>
        <p:nvSpPr>
          <p:cNvPr id="14" name="Shape 11"/>
          <p:cNvSpPr/>
          <p:nvPr/>
        </p:nvSpPr>
        <p:spPr>
          <a:xfrm>
            <a:off x="667825" y="4033441"/>
            <a:ext cx="6284160" cy="19050"/>
          </a:xfrm>
          <a:prstGeom prst="roundRect">
            <a:avLst>
              <a:gd name="adj" fmla="val 49999"/>
            </a:avLst>
          </a:prstGeom>
          <a:solidFill>
            <a:srgbClr val="D1C8C6"/>
          </a:solidFill>
          <a:ln/>
        </p:spPr>
      </p:sp>
      <p:sp>
        <p:nvSpPr>
          <p:cNvPr id="15" name="Text 12"/>
          <p:cNvSpPr/>
          <p:nvPr/>
        </p:nvSpPr>
        <p:spPr>
          <a:xfrm>
            <a:off x="828456" y="4194076"/>
            <a:ext cx="5962898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 10+ Swappable LLM Backends</a:t>
            </a:r>
            <a:endParaRPr lang="en-US" sz="1550" dirty="0"/>
          </a:p>
        </p:txBody>
      </p:sp>
      <p:sp>
        <p:nvSpPr>
          <p:cNvPr id="16" name="Text 13"/>
          <p:cNvSpPr/>
          <p:nvPr/>
        </p:nvSpPr>
        <p:spPr>
          <a:xfrm>
            <a:off x="828456" y="4526955"/>
            <a:ext cx="5962898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Switch between Kerala Sovereign Local Indic LLM, OpenRouter, or Grok in real time — </a:t>
            </a:r>
            <a:r>
              <a:rPr lang="en-US" sz="1250" b="1" dirty="0">
                <a:solidFill>
                  <a:srgbClr val="443728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no server restarts needed</a:t>
            </a:r>
            <a:r>
              <a:rPr lang="en-US" sz="12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67825" y="5163046"/>
            <a:ext cx="6284160" cy="1129605"/>
          </a:xfrm>
          <a:custGeom>
            <a:avLst/>
            <a:gdLst/>
            <a:ahLst/>
            <a:cxnLst/>
            <a:rect l="l" t="t" r="r" b="b"/>
            <a:pathLst>
              <a:path w="6284160" h="1129605">
                <a:moveTo>
                  <a:pt x="0" y="0"/>
                </a:moveTo>
                <a:lnTo>
                  <a:pt x="6284160" y="0"/>
                </a:lnTo>
                <a:lnTo>
                  <a:pt x="6284160" y="1073371"/>
                </a:lnTo>
                <a:arcTo wR="56233" hR="56234" stAng="0" swAng="5400000"/>
                <a:lnTo>
                  <a:pt x="56233" y="1129605"/>
                </a:lnTo>
                <a:arcTo wR="56233" hR="56234" stAng="5400000" swAng="5400000"/>
                <a:lnTo>
                  <a:pt x="0" y="0"/>
                </a:lnTo>
                <a:close/>
              </a:path>
            </a:pathLst>
          </a:custGeom>
          <a:solidFill>
            <a:srgbClr val="EBE2E0"/>
          </a:solidFill>
          <a:ln/>
        </p:spPr>
      </p:sp>
      <p:sp>
        <p:nvSpPr>
          <p:cNvPr id="18" name="Shape 15"/>
          <p:cNvSpPr/>
          <p:nvPr/>
        </p:nvSpPr>
        <p:spPr>
          <a:xfrm>
            <a:off x="667825" y="5163046"/>
            <a:ext cx="6284160" cy="19050"/>
          </a:xfrm>
          <a:prstGeom prst="roundRect">
            <a:avLst>
              <a:gd name="adj" fmla="val 49999"/>
            </a:avLst>
          </a:prstGeom>
          <a:solidFill>
            <a:srgbClr val="D1C8C6"/>
          </a:solidFill>
          <a:ln/>
        </p:spPr>
      </p:sp>
      <p:sp>
        <p:nvSpPr>
          <p:cNvPr id="19" name="Text 16"/>
          <p:cNvSpPr/>
          <p:nvPr/>
        </p:nvSpPr>
        <p:spPr>
          <a:xfrm>
            <a:off x="828456" y="5323681"/>
            <a:ext cx="5962898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 No-Downtime Model Switching</a:t>
            </a:r>
            <a:endParaRPr lang="en-US" sz="1550" dirty="0"/>
          </a:p>
        </p:txBody>
      </p:sp>
      <p:sp>
        <p:nvSpPr>
          <p:cNvPr id="20" name="Text 17"/>
          <p:cNvSpPr/>
          <p:nvPr/>
        </p:nvSpPr>
        <p:spPr>
          <a:xfrm>
            <a:off x="828456" y="5656560"/>
            <a:ext cx="5962898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Change models and API keys live from the Government UI — maximum flexibility, no disruption to operations.</a:t>
            </a:r>
            <a:endParaRPr lang="en-US" sz="12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44B1995-EAC1-FE36-19BE-0D878D6E078C}"/>
              </a:ext>
            </a:extLst>
          </p:cNvPr>
          <p:cNvSpPr/>
          <p:nvPr/>
        </p:nvSpPr>
        <p:spPr>
          <a:xfrm>
            <a:off x="11000792" y="6550090"/>
            <a:ext cx="1390261" cy="280095"/>
          </a:xfrm>
          <a:prstGeom prst="rect">
            <a:avLst/>
          </a:prstGeom>
          <a:solidFill>
            <a:srgbClr val="FFFC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EBE2E0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0650" y="475456"/>
            <a:ext cx="4430205" cy="590708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628055"/>
            <a:ext cx="6296860" cy="4430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Automated Checks &amp; Statewide Impact</a:t>
            </a:r>
            <a:endParaRPr lang="en-US" sz="2750" dirty="0"/>
          </a:p>
        </p:txBody>
      </p:sp>
      <p:sp>
        <p:nvSpPr>
          <p:cNvPr id="5" name="Text 2"/>
          <p:cNvSpPr/>
          <p:nvPr/>
        </p:nvSpPr>
        <p:spPr>
          <a:xfrm>
            <a:off x="1046732" y="1301353"/>
            <a:ext cx="2311441" cy="467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6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85%</a:t>
            </a:r>
            <a:endParaRPr lang="en-US" sz="3650" dirty="0"/>
          </a:p>
        </p:txBody>
      </p:sp>
      <p:sp>
        <p:nvSpPr>
          <p:cNvPr id="6" name="Text 3"/>
          <p:cNvSpPr/>
          <p:nvPr/>
        </p:nvSpPr>
        <p:spPr>
          <a:xfrm>
            <a:off x="661475" y="1919684"/>
            <a:ext cx="3081955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Fewer Wasted Trips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61475" y="2204839"/>
            <a:ext cx="3081955" cy="396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10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Fewer citizens travel to empty Fair Price Shops across Kerala.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261537" y="1301353"/>
            <a:ext cx="2311541" cy="467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6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28%</a:t>
            </a:r>
            <a:endParaRPr lang="en-US" sz="3650" dirty="0"/>
          </a:p>
        </p:txBody>
      </p:sp>
      <p:sp>
        <p:nvSpPr>
          <p:cNvPr id="9" name="Text 6"/>
          <p:cNvSpPr/>
          <p:nvPr/>
        </p:nvSpPr>
        <p:spPr>
          <a:xfrm>
            <a:off x="3876280" y="1919684"/>
            <a:ext cx="3082054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National Theft/Loss Rate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3876280" y="2204839"/>
            <a:ext cx="3082054" cy="396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10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Known national PDS theft/loss problem — now caught in real time, not weeks later.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654134" y="2885182"/>
            <a:ext cx="2311441" cy="467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6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100%</a:t>
            </a:r>
            <a:endParaRPr lang="en-US" sz="3650" dirty="0"/>
          </a:p>
        </p:txBody>
      </p:sp>
      <p:sp>
        <p:nvSpPr>
          <p:cNvPr id="12" name="Text 9"/>
          <p:cNvSpPr/>
          <p:nvPr/>
        </p:nvSpPr>
        <p:spPr>
          <a:xfrm>
            <a:off x="2268878" y="3503513"/>
            <a:ext cx="3081955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NFSA Audit Readiness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2268878" y="3788668"/>
            <a:ext cx="3081955" cy="396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17000"/>
              </a:lnSpc>
              <a:buNone/>
            </a:pPr>
            <a:r>
              <a:rPr lang="en-US" sz="110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Full audit readiness with automatic matching and secure ledger trails.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61475" y="4344988"/>
            <a:ext cx="6296860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How the Checking and Matching Works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661475" y="4725888"/>
            <a:ext cx="6296860" cy="471190"/>
          </a:xfrm>
          <a:prstGeom prst="roundRect">
            <a:avLst>
              <a:gd name="adj" fmla="val 12636"/>
            </a:avLst>
          </a:prstGeom>
          <a:solidFill>
            <a:srgbClr val="EBE2E0"/>
          </a:solidFill>
          <a:ln/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156" y="4883249"/>
            <a:ext cx="177200" cy="14168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122037" y="4867573"/>
            <a:ext cx="6304202" cy="198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Expected Stock = Opening Balance + Incoming Stock − Total e-POS Sales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661475" y="5316637"/>
            <a:ext cx="6296860" cy="9133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Any gap bigger than </a:t>
            </a:r>
            <a:r>
              <a:rPr lang="en-US" sz="1100" b="1" dirty="0">
                <a:solidFill>
                  <a:srgbClr val="443728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50 kg or 5%</a:t>
            </a:r>
            <a:r>
              <a:rPr lang="en-US" sz="110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automatically freezes the dealer's trust score and triggers a field inspection — no person needs to catch the alert.</a:t>
            </a:r>
            <a:endParaRPr lang="en-US" sz="11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Family-grouped SMS checking by Ration Card ID avoids duplicate messages and shows zero wasted phone costs — every rupee of the system's running cost is justified.</a:t>
            </a:r>
            <a:endParaRPr lang="en-US" sz="1100" dirty="0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830</Words>
  <Application>Microsoft Office PowerPoint</Application>
  <PresentationFormat>Widescreen</PresentationFormat>
  <Paragraphs>101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Open Sans</vt:lpstr>
      <vt:lpstr>Arial</vt:lpstr>
      <vt:lpstr>Open Sans Bold</vt:lpstr>
      <vt:lpstr>Crimson Pro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amee x</cp:lastModifiedBy>
  <cp:revision>2</cp:revision>
  <dcterms:created xsi:type="dcterms:W3CDTF">2026-09-20T01:14:51Z</dcterms:created>
  <dcterms:modified xsi:type="dcterms:W3CDTF">2026-09-20T01:55:42Z</dcterms:modified>
</cp:coreProperties>
</file>