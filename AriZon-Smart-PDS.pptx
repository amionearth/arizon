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Crimson Pro Bold" panose="020B0604020202020204" charset="0"/>
      <p:regular r:id="rId11"/>
    </p:embeddedFont>
    <p:embeddedFont>
      <p:font typeface="Open Sans" panose="020B0606030504020204" pitchFamily="34" charset="0"/>
      <p:regular r:id="rId12"/>
      <p:bold r:id="rId13"/>
      <p:italic r:id="rId14"/>
      <p:boldItalic r:id="rId15"/>
    </p:embeddedFont>
    <p:embeddedFont>
      <p:font typeface="Open Sans Bold" panose="020B0806030504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C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8581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BE2E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21932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AriZon — Smart PDS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093442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Next-Generation Ration Stock Visibility &amp; Sovereign AI Governance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526981" y="3821113"/>
            <a:ext cx="601339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"Know the stock before you travel. Track the supply. Verify the transaction."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233360" y="3608487"/>
            <a:ext cx="25399" cy="1030089"/>
          </a:xfrm>
          <a:prstGeom prst="roundRect">
            <a:avLst>
              <a:gd name="adj" fmla="val 50001"/>
            </a:avLst>
          </a:prstGeom>
          <a:solidFill>
            <a:srgbClr val="835E54"/>
          </a:solidFill>
          <a:ln/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54B9B7-1C26-7549-F5FE-467044A0A17C}"/>
              </a:ext>
            </a:extLst>
          </p:cNvPr>
          <p:cNvSpPr/>
          <p:nvPr/>
        </p:nvSpPr>
        <p:spPr>
          <a:xfrm>
            <a:off x="10828020" y="6400800"/>
            <a:ext cx="1607820" cy="548640"/>
          </a:xfrm>
          <a:prstGeom prst="rect">
            <a:avLst/>
          </a:prstGeom>
          <a:solidFill>
            <a:srgbClr val="FFFC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BE2E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3" y="481806"/>
            <a:ext cx="4420680" cy="5894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51284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The Broken Last Mile in Food Security</a:t>
            </a:r>
            <a:endParaRPr lang="en-US" sz="29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405136"/>
            <a:ext cx="6296860" cy="108465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79814" y="1575395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The Blind Journey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5479814" y="1884164"/>
            <a:ext cx="588015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Citizens travel to Fair Price Shops without knowing if their quota is even in stock — wasted trips, wasted days.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610743"/>
            <a:ext cx="6296860" cy="108465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79814" y="2781002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Asymmetric Information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5479814" y="3089771"/>
            <a:ext cx="588015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Only shopkeepers know when stock arrives. Elders and daily wage earners are the last to find out — and the first to miss out.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816350"/>
            <a:ext cx="6296860" cy="108465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79814" y="3986609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Inwarding Discrepancies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5479814" y="4295378"/>
            <a:ext cx="588015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Dispatches suffer transit losses and weighbridge errors that dealers silently absorb, creating untraceable leakage.</a:t>
            </a:r>
            <a:endParaRPr lang="en-US" sz="11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5021957"/>
            <a:ext cx="6296860" cy="108465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479814" y="5192216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Siloed Administration</a:t>
            </a:r>
            <a:endParaRPr lang="en-US" sz="1450" dirty="0"/>
          </a:p>
        </p:txBody>
      </p:sp>
      <p:sp>
        <p:nvSpPr>
          <p:cNvPr id="16" name="Text 9"/>
          <p:cNvSpPr/>
          <p:nvPr/>
        </p:nvSpPr>
        <p:spPr>
          <a:xfrm>
            <a:off x="5479814" y="5500985"/>
            <a:ext cx="588015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Officers discover pilferage weeks later during manual audits — never in real-time, always too late.</a:t>
            </a:r>
            <a:endParaRPr lang="en-US" sz="11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29DD30-6F95-BD08-6761-4366BC7EE98B}"/>
              </a:ext>
            </a:extLst>
          </p:cNvPr>
          <p:cNvSpPr/>
          <p:nvPr/>
        </p:nvSpPr>
        <p:spPr>
          <a:xfrm>
            <a:off x="10828020" y="6400800"/>
            <a:ext cx="1607820" cy="548640"/>
          </a:xfrm>
          <a:prstGeom prst="rect">
            <a:avLst/>
          </a:prstGeom>
          <a:solidFill>
            <a:srgbClr val="FFFC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4550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The Unified Agentic Architecture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860" y="2330152"/>
            <a:ext cx="2851376" cy="2851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00956" y="1619349"/>
            <a:ext cx="693551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One Brain. Four Portals. Zero Hallucinations.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00956" y="1991618"/>
            <a:ext cx="340213" cy="340221"/>
          </a:xfrm>
          <a:prstGeom prst="roundRect">
            <a:avLst>
              <a:gd name="adj" fmla="val 18668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657608" y="2019945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062113" y="2043509"/>
            <a:ext cx="647435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Single AI Agent Core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062113" y="2400697"/>
            <a:ext cx="6474358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 shared brain orchestrating 12 role-scoped tools with strict access control across every stakeholder.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00956" y="3077964"/>
            <a:ext cx="340213" cy="340221"/>
          </a:xfrm>
          <a:prstGeom prst="roundRect">
            <a:avLst>
              <a:gd name="adj" fmla="val 18668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57608" y="3106291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5062113" y="3129855"/>
            <a:ext cx="647435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4 Seamless Portals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062113" y="3487043"/>
            <a:ext cx="6474358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Citizen, Ration Dealer, Taluk Supplier, and Government — all connected to one unified ledger.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600956" y="4164310"/>
            <a:ext cx="340213" cy="340221"/>
          </a:xfrm>
          <a:prstGeom prst="roundRect">
            <a:avLst>
              <a:gd name="adj" fmla="val 18668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57608" y="4192637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5062113" y="4216202"/>
            <a:ext cx="647435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Live Ground-Truth Pre-Prompting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062113" y="4573389"/>
            <a:ext cx="647435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AI query is injected with exact database facts — zero hallucinations, always grounded.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600956" y="5032970"/>
            <a:ext cx="340213" cy="340221"/>
          </a:xfrm>
          <a:prstGeom prst="roundRect">
            <a:avLst>
              <a:gd name="adj" fmla="val 18668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57608" y="5061297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4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5062113" y="5084862"/>
            <a:ext cx="647435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Multi-Signal Trust Engine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5062113" y="5442049"/>
            <a:ext cx="6474358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Scale variance, citizen confirmation, and biometric velocity combine for targeted anomaly review.</a:t>
            </a:r>
            <a:endParaRPr lang="en-US" sz="11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AF05F72-D2D5-484A-DD2A-05EEE25B8A49}"/>
              </a:ext>
            </a:extLst>
          </p:cNvPr>
          <p:cNvSpPr/>
          <p:nvPr/>
        </p:nvSpPr>
        <p:spPr>
          <a:xfrm>
            <a:off x="10828020" y="6400800"/>
            <a:ext cx="1607820" cy="548640"/>
          </a:xfrm>
          <a:prstGeom prst="rect">
            <a:avLst/>
          </a:prstGeom>
          <a:solidFill>
            <a:srgbClr val="FFFC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230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The Citizen Portal: Zero Friction, Total Dignity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90973"/>
            <a:ext cx="378014" cy="3780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5723" y="1655862"/>
            <a:ext cx="2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Passwordless Authentication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275723" y="2359819"/>
            <a:ext cx="2851178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 in with your 10-digit Ration Card ID + OTP. Supports Yellow AAY, Pink PHH, Blue Non-Priority, and White General categories.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1590973"/>
            <a:ext cx="378014" cy="3780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77383" y="1655862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Real-Time Stock Availability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977383" y="2064544"/>
            <a:ext cx="285117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 indicators for Boiled Rice, Raw Rice, Wheat, Sugar, and Kerosene — with distance markers to your nearest FPS.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1590973"/>
            <a:ext cx="378014" cy="3780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79042" y="1655862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'Notify Me' Stock Watchdog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679042" y="2064544"/>
            <a:ext cx="285117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SMS alerts the moment out-of-stock items arrive at your shop. No more guesswork, no wasted journeys.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249936"/>
            <a:ext cx="378014" cy="3780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75723" y="4314825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Grouped Family Security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1275723" y="4723507"/>
            <a:ext cx="2851178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registered household members notified simultaneously — preventing fraud, ghost draws, and duplicate claims.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63135" y="4249936"/>
            <a:ext cx="378014" cy="37802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77383" y="4314825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Full Malayalam &amp; English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4977383" y="4723507"/>
            <a:ext cx="285117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Complete bilingual localization ensures high accessibility for seniors and non-English speakers across Kerala.</a:t>
            </a:r>
            <a:endParaRPr lang="en-US" sz="14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3BCE41-7184-0223-B40C-6AC9ED736C2D}"/>
              </a:ext>
            </a:extLst>
          </p:cNvPr>
          <p:cNvSpPr/>
          <p:nvPr/>
        </p:nvSpPr>
        <p:spPr>
          <a:xfrm>
            <a:off x="10828020" y="6400800"/>
            <a:ext cx="1607820" cy="548640"/>
          </a:xfrm>
          <a:prstGeom prst="rect">
            <a:avLst/>
          </a:prstGeom>
          <a:solidFill>
            <a:srgbClr val="FFFC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3094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Fair Price Shop Ledger &amp; Supply Verification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672" y="2273895"/>
            <a:ext cx="3016869" cy="30169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08993" y="1466453"/>
            <a:ext cx="692747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Dealer Tools Built for Ground Reality</a:t>
            </a:r>
            <a:endParaRPr lang="en-US" sz="15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8993" y="1871067"/>
            <a:ext cx="3395478" cy="215572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86234" y="1977330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4788673" y="2508647"/>
            <a:ext cx="303611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Inward Delivery Inspection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4788673" y="2896195"/>
            <a:ext cx="3036117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Compare dispatched weight vs. received scale weight with instant tolerance checks — discrepancies flagged immediately.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40992" y="1871067"/>
            <a:ext cx="3395478" cy="215572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8233" y="1977330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20673" y="2508647"/>
            <a:ext cx="303611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Three Trust Signals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8320673" y="2896195"/>
            <a:ext cx="3036117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S1</a:t>
            </a: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scale-weight variance · </a:t>
            </a:r>
            <a:r>
              <a:rPr lang="en-US" sz="12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S2</a:t>
            </a: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citizen confirmation ratio · </a:t>
            </a:r>
            <a:r>
              <a:rPr lang="en-US" sz="12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S3</a:t>
            </a: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biometric transaction velocity — combined into one explainable trust score.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08993" y="4163318"/>
            <a:ext cx="3395478" cy="191799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86234" y="4269581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4788673" y="4800898"/>
            <a:ext cx="303611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Real-Time e-POS Simulator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4788673" y="5188446"/>
            <a:ext cx="3036117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Record sales to specific ration cards with auto-quota deduction and balance calculation — live, accurate, auditable.</a:t>
            </a:r>
            <a:endParaRPr lang="en-US" sz="12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40992" y="4163318"/>
            <a:ext cx="3395478" cy="191799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718233" y="4269581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4</a:t>
            </a:r>
            <a:endParaRPr lang="en-US" sz="1850" dirty="0"/>
          </a:p>
        </p:txBody>
      </p:sp>
      <p:sp>
        <p:nvSpPr>
          <p:cNvPr id="19" name="Text 12"/>
          <p:cNvSpPr/>
          <p:nvPr/>
        </p:nvSpPr>
        <p:spPr>
          <a:xfrm>
            <a:off x="8320673" y="4800898"/>
            <a:ext cx="303611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Offline-Resilient</a:t>
            </a:r>
            <a:endParaRPr lang="en-US" sz="1550" dirty="0"/>
          </a:p>
        </p:txBody>
      </p:sp>
      <p:sp>
        <p:nvSpPr>
          <p:cNvPr id="20" name="Text 13"/>
          <p:cNvSpPr/>
          <p:nvPr/>
        </p:nvSpPr>
        <p:spPr>
          <a:xfrm>
            <a:off x="8320673" y="5188446"/>
            <a:ext cx="3036117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Upload monthly stock sheets via Excel/CSV when internet connectivity fluctuates — no data ever lost.</a:t>
            </a:r>
            <a:endParaRPr lang="en-US" sz="12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1D5344C-A272-B7BD-1F0A-CB93A43E2DD5}"/>
              </a:ext>
            </a:extLst>
          </p:cNvPr>
          <p:cNvSpPr/>
          <p:nvPr/>
        </p:nvSpPr>
        <p:spPr>
          <a:xfrm>
            <a:off x="10828020" y="6400800"/>
            <a:ext cx="1607820" cy="548640"/>
          </a:xfrm>
          <a:prstGeom prst="rect">
            <a:avLst/>
          </a:prstGeom>
          <a:solidFill>
            <a:srgbClr val="FFFC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7609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End-to-End Grain Movement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550" y="1101229"/>
            <a:ext cx="7064595" cy="31011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62020" y="3172561"/>
            <a:ext cx="1238333" cy="382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Government Allocation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762020" y="3609730"/>
            <a:ext cx="1238333" cy="252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Issue consignment and waybill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238877" y="3316299"/>
            <a:ext cx="1238333" cy="191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FPS Receipt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238877" y="3562101"/>
            <a:ext cx="1238333" cy="252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Weighbridge check and sign-off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510655" y="1426434"/>
            <a:ext cx="1238333" cy="191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Supplier Dispatch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510655" y="1672236"/>
            <a:ext cx="1238333" cy="252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Truck, driver, waybill tracking</a:t>
            </a:r>
            <a:endParaRPr lang="en-US" sz="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4292203"/>
            <a:ext cx="3622882" cy="4914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4305" y="4863405"/>
            <a:ext cx="337722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Government Allocation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84305" y="5103217"/>
            <a:ext cx="337722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Issue consignment and waybill</a:t>
            </a:r>
            <a:endParaRPr lang="en-US" sz="9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4357" y="4292203"/>
            <a:ext cx="3622882" cy="49143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07187" y="4863405"/>
            <a:ext cx="337722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Supplier Dispatch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407187" y="5103217"/>
            <a:ext cx="337722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Truck, driver, waybill tracking</a:t>
            </a:r>
            <a:endParaRPr lang="en-US" sz="9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7239" y="4292203"/>
            <a:ext cx="3622882" cy="49143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030069" y="4863405"/>
            <a:ext cx="337722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FPS Receipt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8030069" y="5103217"/>
            <a:ext cx="337722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Weighbridge check and sign-off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661475" y="5477966"/>
            <a:ext cx="3569702" cy="822424"/>
          </a:xfrm>
          <a:prstGeom prst="roundRect">
            <a:avLst>
              <a:gd name="adj" fmla="val 6274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790654" y="5607149"/>
            <a:ext cx="331134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Consignment Tracking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790654" y="5846961"/>
            <a:ext cx="3311343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Capture Vehicle Number, Driver Contact, Waybill ID, and Net Weight at every handoff point.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4310947" y="5477966"/>
            <a:ext cx="3569702" cy="822424"/>
          </a:xfrm>
          <a:prstGeom prst="roundRect">
            <a:avLst>
              <a:gd name="adj" fmla="val 6274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440126" y="5607149"/>
            <a:ext cx="331134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Weighbridge Reconciliation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440126" y="5846961"/>
            <a:ext cx="3311343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Auto-detects transit leakage between state dispatch and taluk weighing — every kilogram accounted for.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7960419" y="5477966"/>
            <a:ext cx="3569801" cy="822424"/>
          </a:xfrm>
          <a:prstGeom prst="roundRect">
            <a:avLst>
              <a:gd name="adj" fmla="val 6274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089598" y="5607149"/>
            <a:ext cx="331144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Two-Man Approval Rule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8089598" y="5846961"/>
            <a:ext cx="3311442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Strict dual-officer authorization for any anomalous delivery or quota redistribution — no unilateral overrides.</a:t>
            </a:r>
            <a:endParaRPr lang="en-US" sz="95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A6AD09-399A-96CF-226B-98FDC29DEF6F}"/>
              </a:ext>
            </a:extLst>
          </p:cNvPr>
          <p:cNvSpPr/>
          <p:nvPr/>
        </p:nvSpPr>
        <p:spPr>
          <a:xfrm>
            <a:off x="10828020" y="6400800"/>
            <a:ext cx="1607820" cy="548640"/>
          </a:xfrm>
          <a:prstGeom prst="rect">
            <a:avLst/>
          </a:prstGeom>
          <a:solidFill>
            <a:srgbClr val="FFFC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BE2E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75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58998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Pluggable AI Gateway &amp; Data Sovereignty</a:t>
            </a:r>
            <a:endParaRPr lang="en-US" sz="3150" dirty="0"/>
          </a:p>
        </p:txBody>
      </p:sp>
      <p:sp>
        <p:nvSpPr>
          <p:cNvPr id="5" name="Shape 2"/>
          <p:cNvSpPr/>
          <p:nvPr/>
        </p:nvSpPr>
        <p:spPr>
          <a:xfrm>
            <a:off x="661475" y="1767880"/>
            <a:ext cx="6296860" cy="4531122"/>
          </a:xfrm>
          <a:prstGeom prst="roundRect">
            <a:avLst>
              <a:gd name="adj" fmla="val 1489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7825" y="1774230"/>
            <a:ext cx="6284160" cy="1129605"/>
          </a:xfrm>
          <a:custGeom>
            <a:avLst/>
            <a:gdLst/>
            <a:ahLst/>
            <a:cxnLst/>
            <a:rect l="l" t="t" r="r" b="b"/>
            <a:pathLst>
              <a:path w="6284160" h="1129605">
                <a:moveTo>
                  <a:pt x="56233" y="0"/>
                </a:moveTo>
                <a:lnTo>
                  <a:pt x="6227927" y="0"/>
                </a:lnTo>
                <a:arcTo wR="56233" hR="56234" stAng="16200000" swAng="5400000"/>
                <a:lnTo>
                  <a:pt x="6284160" y="1129605"/>
                </a:lnTo>
                <a:lnTo>
                  <a:pt x="0" y="1129605"/>
                </a:lnTo>
                <a:lnTo>
                  <a:pt x="0" y="56234"/>
                </a:lnTo>
                <a:arcTo wR="56233" hR="56234" stAng="10800000" swAng="5400000"/>
                <a:close/>
              </a:path>
            </a:pathLst>
          </a:custGeom>
          <a:solidFill>
            <a:srgbClr val="EBE2E0"/>
          </a:solidFill>
          <a:ln/>
        </p:spPr>
      </p:sp>
      <p:sp>
        <p:nvSpPr>
          <p:cNvPr id="7" name="Text 4"/>
          <p:cNvSpPr/>
          <p:nvPr/>
        </p:nvSpPr>
        <p:spPr>
          <a:xfrm>
            <a:off x="828456" y="1934865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Data Sovereignty First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8456" y="2267744"/>
            <a:ext cx="596289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Sensitive PDS beneficiary data and biometric logs </a:t>
            </a:r>
            <a:r>
              <a:rPr lang="en-US" sz="12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never leave state borders</a:t>
            </a: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Kerala's citizens, Kerala's data.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77985" y="2903835"/>
            <a:ext cx="6284160" cy="1129605"/>
          </a:xfrm>
          <a:prstGeom prst="rect">
            <a:avLst/>
          </a:prstGeom>
          <a:solidFill>
            <a:srgbClr val="EBE2E0"/>
          </a:solidFill>
          <a:ln/>
        </p:spPr>
      </p:sp>
      <p:sp>
        <p:nvSpPr>
          <p:cNvPr id="10" name="Shape 7"/>
          <p:cNvSpPr/>
          <p:nvPr/>
        </p:nvSpPr>
        <p:spPr>
          <a:xfrm>
            <a:off x="667825" y="2903835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D1C8C6"/>
          </a:solidFill>
          <a:ln/>
        </p:spPr>
      </p:sp>
      <p:sp>
        <p:nvSpPr>
          <p:cNvPr id="11" name="Text 8"/>
          <p:cNvSpPr/>
          <p:nvPr/>
        </p:nvSpPr>
        <p:spPr>
          <a:xfrm>
            <a:off x="828456" y="3064470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Kerala Sovereign Indic LLM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28456" y="3397349"/>
            <a:ext cx="596289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 integration with state-hosted local edge inference via Ollama / vLLM / C-DAC Malayalam models — fully on-premise.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67825" y="4033441"/>
            <a:ext cx="6284160" cy="1129605"/>
          </a:xfrm>
          <a:prstGeom prst="rect">
            <a:avLst/>
          </a:prstGeom>
          <a:solidFill>
            <a:srgbClr val="EBE2E0"/>
          </a:solidFill>
          <a:ln/>
        </p:spPr>
      </p:sp>
      <p:sp>
        <p:nvSpPr>
          <p:cNvPr id="14" name="Shape 11"/>
          <p:cNvSpPr/>
          <p:nvPr/>
        </p:nvSpPr>
        <p:spPr>
          <a:xfrm>
            <a:off x="667825" y="4033441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D1C8C6"/>
          </a:solidFill>
          <a:ln/>
        </p:spPr>
      </p:sp>
      <p:sp>
        <p:nvSpPr>
          <p:cNvPr id="15" name="Text 12"/>
          <p:cNvSpPr/>
          <p:nvPr/>
        </p:nvSpPr>
        <p:spPr>
          <a:xfrm>
            <a:off x="828456" y="4194076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10+ Pluggable LLM Backends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828456" y="4526955"/>
            <a:ext cx="596289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Switch between Kerala Sovereign Local Indic LLM, OpenRouter, or Grok in real-time — </a:t>
            </a:r>
            <a:r>
              <a:rPr lang="en-US" sz="12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zero server restarts required</a:t>
            </a: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67825" y="5163046"/>
            <a:ext cx="6284160" cy="1129605"/>
          </a:xfrm>
          <a:custGeom>
            <a:avLst/>
            <a:gdLst/>
            <a:ahLst/>
            <a:cxnLst/>
            <a:rect l="l" t="t" r="r" b="b"/>
            <a:pathLst>
              <a:path w="6284160" h="1129605">
                <a:moveTo>
                  <a:pt x="0" y="0"/>
                </a:moveTo>
                <a:lnTo>
                  <a:pt x="6284160" y="0"/>
                </a:lnTo>
                <a:lnTo>
                  <a:pt x="6284160" y="1073371"/>
                </a:lnTo>
                <a:arcTo wR="56233" hR="56234" stAng="0" swAng="5400000"/>
                <a:lnTo>
                  <a:pt x="56233" y="1129605"/>
                </a:lnTo>
                <a:arcTo wR="56233" hR="56234" stAng="5400000" swAng="5400000"/>
                <a:lnTo>
                  <a:pt x="0" y="0"/>
                </a:lnTo>
                <a:close/>
              </a:path>
            </a:pathLst>
          </a:custGeom>
          <a:solidFill>
            <a:srgbClr val="EBE2E0"/>
          </a:solidFill>
          <a:ln/>
        </p:spPr>
      </p:sp>
      <p:sp>
        <p:nvSpPr>
          <p:cNvPr id="18" name="Shape 15"/>
          <p:cNvSpPr/>
          <p:nvPr/>
        </p:nvSpPr>
        <p:spPr>
          <a:xfrm>
            <a:off x="667825" y="5163046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D1C8C6"/>
          </a:solidFill>
          <a:ln/>
        </p:spPr>
      </p:sp>
      <p:sp>
        <p:nvSpPr>
          <p:cNvPr id="19" name="Text 16"/>
          <p:cNvSpPr/>
          <p:nvPr/>
        </p:nvSpPr>
        <p:spPr>
          <a:xfrm>
            <a:off x="828456" y="5323681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Zero-Downtime Hot-Swapping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828456" y="5656560"/>
            <a:ext cx="596289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Change models and API keys live from the Government UI — maximum flexibility, zero disruption to operations.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1371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Automated Audit &amp; Statewide Impact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836195" y="1574205"/>
            <a:ext cx="3145850" cy="561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85%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61475" y="2335411"/>
            <a:ext cx="349538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Fewer Wasted Trips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61475" y="2692896"/>
            <a:ext cx="349538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Reduction in citizens traveling to empty Fair Price Shops across Kerala.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22873" y="1574205"/>
            <a:ext cx="3145850" cy="561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28%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348153" y="2335411"/>
            <a:ext cx="349538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National Diversion Rate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348153" y="2692896"/>
            <a:ext cx="3495389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Documented national PDS diversion problem — now detectable in real-time, not weeks later.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09551" y="1574205"/>
            <a:ext cx="3145850" cy="561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100%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034831" y="2335411"/>
            <a:ext cx="349538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NFSA Audit Readiness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034831" y="2692896"/>
            <a:ext cx="3495389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compliance audit readiness with automated reconciliation and tamper-evident ledger trails.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1475" y="3698180"/>
            <a:ext cx="1086874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How the Reconciliation Works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61475" y="4193480"/>
            <a:ext cx="10868745" cy="634305"/>
          </a:xfrm>
          <a:prstGeom prst="roundRect">
            <a:avLst>
              <a:gd name="adj" fmla="val 11264"/>
            </a:avLst>
          </a:prstGeom>
          <a:solidFill>
            <a:srgbClr val="EBE2E0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532" y="4411663"/>
            <a:ext cx="212620" cy="170061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14209" y="4389041"/>
            <a:ext cx="1075554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Expected Stock = Opening Balance + Inward Receipts − Total e-POS Sales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61475" y="5000030"/>
            <a:ext cx="10868745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350"/>
              </a:spcAft>
              <a:buNone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Any discrepancy greater than </a:t>
            </a:r>
            <a:r>
              <a:rPr lang="en-US" sz="13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50 kg or 5%</a:t>
            </a: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automatically freezes the dealer's trust score and triggers a field inspection — no human intervention required to catch the alert.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Family-grouped SMS auditing by Ration Card ID eliminates duplicate notifications and proves zero wasted telecom spend — every rupee of the system's operating cost is justified.</a:t>
            </a:r>
            <a:endParaRPr lang="en-US" sz="13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4162A24-FBC0-E792-78C7-6DF35233BF73}"/>
              </a:ext>
            </a:extLst>
          </p:cNvPr>
          <p:cNvSpPr/>
          <p:nvPr/>
        </p:nvSpPr>
        <p:spPr>
          <a:xfrm>
            <a:off x="10828020" y="6400800"/>
            <a:ext cx="1607820" cy="548640"/>
          </a:xfrm>
          <a:prstGeom prst="rect">
            <a:avLst/>
          </a:prstGeom>
          <a:solidFill>
            <a:srgbClr val="FFFC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835E54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790</Words>
  <Application>Microsoft Office PowerPoint</Application>
  <PresentationFormat>Widescreen</PresentationFormat>
  <Paragraphs>101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Open Sans Bold</vt:lpstr>
      <vt:lpstr>Arial</vt:lpstr>
      <vt:lpstr>Crimson Pro Bold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amee x</cp:lastModifiedBy>
  <cp:revision>4</cp:revision>
  <dcterms:created xsi:type="dcterms:W3CDTF">2026-09-19T20:13:28Z</dcterms:created>
  <dcterms:modified xsi:type="dcterms:W3CDTF">2026-09-19T21:34:58Z</dcterms:modified>
</cp:coreProperties>
</file>